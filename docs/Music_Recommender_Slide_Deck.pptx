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55" d="100"/>
          <a:sy n="55" d="100"/>
        </p:scale>
        <p:origin x="70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362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this is a comparison study, not a 'we built a thing' demo. The honesty angle is the spine of the whole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dataset's nature dictates every design decision: confidence from play counts, ranking-based evaluation. Sparsity number is the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evidence for the whole 'accuracy is not enough' thesis. Gini 0.893 and median 1 listener are the punch. A popularity recommender can score fine while ignoring 99% of the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 for the implementation grade. The point: a thin end-to-end slice first, then deepen. One fit/recommend interface makes methods interchangeable — which is what makes the comparison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technical decision. Confidence formula from Hu/Koren/Volinsky. One shared split + one harness is the backbone of fairness — say this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only — one line each. Stress that all core logic is hand-implemented; libraries are for speed, not for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30%. Emphasise: same split, same harness, averaged over 5 random seeds with tiny std, so the rankings you'll see are stable, not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takeaways: personalisation more than doubles the baseline; and the surprise — simple item-item CF beats the more complex ALS on this small, dense data. Sophistication isn't automatically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of the deck. No method wins every objective. Walk the three panels: item-CF best coverage, ALS leads diversity among accurate methods, content most novel but a filter bubble; popularity covers ~25 artists for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picture that summarises the whole study. Methods occupy different corners of the accuracy–diversity plane. Choosing one means choosing what you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slide. Popularity models have the highest bias and near-total exposure concentration. The caveat sells the credibility: even 'personalised' user-user CF leans on crowd-pleasers.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cost profiles, no universal winner. Memory-based CF trains instantly but stores a huge similarity matrix; ALS pays training cost once and serves from compact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centrepiece. Let it breathe — point to the bold cells. Item-CF owns accuracy and coverage; every other column has a different winner. This single table is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Content-based earns its place here. Of 2,211 zero-play artists, only content can recommend them. The flip side — almost no cold users — is itself an honest dataset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Technical-implementation grade. Lead with the hardest: fairness machinery, and validating a hand-rolled ALS against a closed-form solution plus a synthetic two-cluster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20% / critical-thinking payoff. Separate what we FIXED from what inherently REMAINS. The timestamp point and the discovery point are the strongest honesty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portfolio argument: there's no single winner, so ship a portfolio. Item-CF default, content for cold-start/novelty, social to widen coverage, popularity as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thesis sentence and stop.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4D5E">
                  <a:alpha val="13000"/>
                </a:srgbClr>
              </a:gs>
              <a:gs pos="62000">
                <a:srgbClr val="FF4D5E">
                  <a:alpha val="0"/>
                </a:srgbClr>
              </a:gs>
            </a:gsLst>
            <a:path path="circle">
              <a:fillToRect l="22000" t="26000" r="78000" b="74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RECOMMENDER SYSTEMS · ESADE MSC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3061171"/>
            <a:ext cx="14716125" cy="2726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200" b="1" kern="0" spc="-144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Recommender: </a:t>
            </a:r>
            <a:r>
              <a:rPr lang="en-US" sz="7200" b="1" kern="0" spc="-144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Methods </a:t>
            </a:r>
            <a:r>
              <a:rPr lang="en-US" sz="7200" b="1" kern="0" spc="-144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One Honest Comparison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90600" y="6397152"/>
            <a:ext cx="1157668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Last.fm HetRec 2011 · implicit feedback · accuracy </a:t>
            </a:r>
            <a:r>
              <a:rPr lang="en-US" sz="3000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3000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beyond-accuracy, measured on one shared split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90600" y="9048750"/>
            <a:ext cx="163068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90600" y="9305925"/>
            <a:ext cx="27158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Prof. Marc Torrens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42690" y="9305925"/>
            <a:ext cx="3470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 </a:t>
            </a:r>
            <a:r>
              <a:rPr lang="en-US" sz="1800" dirty="0" err="1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Gratacós</a:t>
            </a: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– 30/06/2026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 &amp; THE DATA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feedback only. No stars, just plays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4358804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5" name="Text 3"/>
          <p:cNvSpPr/>
          <p:nvPr/>
        </p:nvSpPr>
        <p:spPr>
          <a:xfrm>
            <a:off x="1392436" y="4354041"/>
            <a:ext cx="8043435" cy="838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tell us what they </a:t>
            </a: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played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never what they disliked. Everything is built around </a:t>
            </a: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from play counts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990600" y="5407298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392436" y="5402535"/>
            <a:ext cx="8043435" cy="838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ratings to predict ⇒ the task is </a:t>
            </a: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rating prediction. Evaluation follows suit.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990600" y="6455792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392436" y="6451029"/>
            <a:ext cx="8043435" cy="829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32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available, used later: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11,946 artist tags </a:t>
            </a:r>
            <a:r>
              <a:rPr lang="en-US" sz="232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(186k assignments) and a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friendship graph</a:t>
            </a:r>
            <a:r>
              <a:rPr lang="en-US" sz="232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9868346" y="3878907"/>
            <a:ext cx="7429054" cy="3838575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7871" y="3888432"/>
            <a:ext cx="3695477" cy="190023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201721" y="4250382"/>
            <a:ext cx="3352554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1,892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0201721" y="5117157"/>
            <a:ext cx="33525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3592398" y="3888432"/>
            <a:ext cx="3695477" cy="190023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3916248" y="4250382"/>
            <a:ext cx="3352554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17,632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3916248" y="5117157"/>
            <a:ext cx="33525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artists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877871" y="5807720"/>
            <a:ext cx="3695477" cy="190023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201721" y="6169670"/>
            <a:ext cx="3352554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92,834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0201721" y="7036445"/>
            <a:ext cx="33525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interactions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3592398" y="5807720"/>
            <a:ext cx="3695477" cy="190023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3916248" y="6169670"/>
            <a:ext cx="335255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99.72%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3916248" y="6936432"/>
            <a:ext cx="33525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KNOW YOUR DATA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is extremely concentrated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444627"/>
            <a:ext cx="7079434" cy="104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850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0.893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990600" y="4494237"/>
            <a:ext cx="70794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coefficient of plays across artists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90600" y="5127650"/>
            <a:ext cx="251460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43.7%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990600" y="5837262"/>
            <a:ext cx="2362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plays go to the top 100 artists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3752850" y="5127650"/>
            <a:ext cx="251460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3752850" y="5837262"/>
            <a:ext cx="2362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for the median artist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90600" y="6780237"/>
            <a:ext cx="19050" cy="1333500"/>
          </a:xfrm>
          <a:prstGeom prst="rect">
            <a:avLst/>
          </a:prstGeom>
          <a:solidFill>
            <a:srgbClr val="FF4D5E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19200" y="6780237"/>
            <a:ext cx="48729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behind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"accuracy is not enough"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popularity model can score acceptably while ignoring ~99% of the catalogue.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8036049" y="3135437"/>
            <a:ext cx="9261277" cy="5287417"/>
          </a:xfrm>
          <a:prstGeom prst="rect">
            <a:avLst/>
          </a:prstGeom>
          <a:solidFill>
            <a:srgbClr val="0F1626"/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97281F3-2F4B-34EB-5A06-901B2F0DE21E}"/>
              </a:ext>
            </a:extLst>
          </p:cNvPr>
          <p:cNvSpPr/>
          <p:nvPr/>
        </p:nvSpPr>
        <p:spPr>
          <a:xfrm>
            <a:off x="9160120" y="3946382"/>
            <a:ext cx="8594" cy="2990891"/>
          </a:xfrm>
          <a:custGeom>
            <a:avLst/>
            <a:gdLst>
              <a:gd name="csX0" fmla="*/ 0 w 8594"/>
              <a:gd name="csY0" fmla="*/ 0 h 2990891"/>
              <a:gd name="csX1" fmla="*/ 0 w 8594"/>
              <a:gd name="csY1" fmla="*/ 2990891 h 299089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94" h="2990891">
                <a:moveTo>
                  <a:pt x="0" y="0"/>
                </a:moveTo>
                <a:lnTo>
                  <a:pt x="0" y="2990891"/>
                </a:lnTo>
              </a:path>
            </a:pathLst>
          </a:custGeom>
          <a:ln w="1288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6BBF64D-E4B0-69B4-3865-A4692C52EB69}"/>
              </a:ext>
            </a:extLst>
          </p:cNvPr>
          <p:cNvSpPr/>
          <p:nvPr/>
        </p:nvSpPr>
        <p:spPr>
          <a:xfrm>
            <a:off x="9160120" y="6937273"/>
            <a:ext cx="7374104" cy="8594"/>
          </a:xfrm>
          <a:custGeom>
            <a:avLst/>
            <a:gdLst>
              <a:gd name="csX0" fmla="*/ 0 w 7374104"/>
              <a:gd name="csY0" fmla="*/ 0 h 8594"/>
              <a:gd name="csX1" fmla="*/ 7374104 w 7374104"/>
              <a:gd name="csY1" fmla="*/ 0 h 8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374104" h="8594">
                <a:moveTo>
                  <a:pt x="0" y="0"/>
                </a:moveTo>
                <a:lnTo>
                  <a:pt x="7374104" y="0"/>
                </a:lnTo>
              </a:path>
            </a:pathLst>
          </a:custGeom>
          <a:ln w="12887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E656C48-AAA9-DEA6-F5DE-4D3DD6D514AE}"/>
              </a:ext>
            </a:extLst>
          </p:cNvPr>
          <p:cNvSpPr/>
          <p:nvPr/>
        </p:nvSpPr>
        <p:spPr>
          <a:xfrm>
            <a:off x="9160120" y="6317771"/>
            <a:ext cx="2303333" cy="722636"/>
          </a:xfrm>
          <a:custGeom>
            <a:avLst/>
            <a:gdLst>
              <a:gd name="csX0" fmla="*/ 0 w 2303333"/>
              <a:gd name="csY0" fmla="*/ 619502 h 722636"/>
              <a:gd name="csX1" fmla="*/ 498483 w 2303333"/>
              <a:gd name="csY1" fmla="*/ 361667 h 722636"/>
              <a:gd name="csX2" fmla="*/ 2303333 w 2303333"/>
              <a:gd name="csY2" fmla="*/ 722636 h 722636"/>
              <a:gd name="csX3" fmla="*/ 2303333 w 2303333"/>
              <a:gd name="csY3" fmla="*/ 619502 h 722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03333" h="722636">
                <a:moveTo>
                  <a:pt x="0" y="619502"/>
                </a:moveTo>
                <a:lnTo>
                  <a:pt x="498483" y="361667"/>
                </a:lnTo>
                <a:cubicBezTo>
                  <a:pt x="928209" y="-50870"/>
                  <a:pt x="1443881" y="-308705"/>
                  <a:pt x="2303333" y="722636"/>
                </a:cubicBezTo>
                <a:lnTo>
                  <a:pt x="2303333" y="619502"/>
                </a:lnTo>
                <a:close/>
              </a:path>
            </a:pathLst>
          </a:custGeom>
          <a:noFill/>
          <a:ln w="85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C20E836A-B1F5-B0AF-6404-A2A73A06D506}"/>
              </a:ext>
            </a:extLst>
          </p:cNvPr>
          <p:cNvSpPr/>
          <p:nvPr/>
        </p:nvSpPr>
        <p:spPr>
          <a:xfrm>
            <a:off x="9160120" y="4049517"/>
            <a:ext cx="7374104" cy="3128403"/>
          </a:xfrm>
          <a:custGeom>
            <a:avLst/>
            <a:gdLst>
              <a:gd name="csX0" fmla="*/ 0 w 7374104"/>
              <a:gd name="csY0" fmla="*/ 0 h 3128403"/>
              <a:gd name="csX1" fmla="*/ 1787662 w 7374104"/>
              <a:gd name="csY1" fmla="*/ 2715867 h 3128403"/>
              <a:gd name="csX2" fmla="*/ 7374104 w 7374104"/>
              <a:gd name="csY2" fmla="*/ 3128403 h 3128403"/>
              <a:gd name="csX3" fmla="*/ 7374104 w 7374104"/>
              <a:gd name="csY3" fmla="*/ 2887757 h 3128403"/>
              <a:gd name="csX4" fmla="*/ 0 w 7374104"/>
              <a:gd name="csY4" fmla="*/ 2887757 h 3128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74104" h="3128403">
                <a:moveTo>
                  <a:pt x="0" y="0"/>
                </a:moveTo>
                <a:cubicBezTo>
                  <a:pt x="498483" y="1529824"/>
                  <a:pt x="928209" y="2389275"/>
                  <a:pt x="1787662" y="2715867"/>
                </a:cubicBezTo>
                <a:cubicBezTo>
                  <a:pt x="3162786" y="2990891"/>
                  <a:pt x="4795746" y="3085431"/>
                  <a:pt x="7374104" y="3128403"/>
                </a:cubicBezTo>
                <a:lnTo>
                  <a:pt x="7374104" y="2887757"/>
                </a:lnTo>
                <a:lnTo>
                  <a:pt x="0" y="2887757"/>
                </a:lnTo>
                <a:close/>
              </a:path>
            </a:pathLst>
          </a:custGeom>
          <a:solidFill>
            <a:srgbClr val="FF4D5E"/>
          </a:solidFill>
          <a:ln w="85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DBD6B4A-97FD-5672-2A2C-88F1FC0E0A26}"/>
              </a:ext>
            </a:extLst>
          </p:cNvPr>
          <p:cNvSpPr/>
          <p:nvPr/>
        </p:nvSpPr>
        <p:spPr>
          <a:xfrm>
            <a:off x="9160120" y="4049517"/>
            <a:ext cx="7374104" cy="3128403"/>
          </a:xfrm>
          <a:custGeom>
            <a:avLst/>
            <a:gdLst>
              <a:gd name="csX0" fmla="*/ 0 w 7374104"/>
              <a:gd name="csY0" fmla="*/ 0 h 3128403"/>
              <a:gd name="csX1" fmla="*/ 1787662 w 7374104"/>
              <a:gd name="csY1" fmla="*/ 2715867 h 3128403"/>
              <a:gd name="csX2" fmla="*/ 7374104 w 7374104"/>
              <a:gd name="csY2" fmla="*/ 3128403 h 3128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374104" h="3128403">
                <a:moveTo>
                  <a:pt x="0" y="0"/>
                </a:moveTo>
                <a:cubicBezTo>
                  <a:pt x="498483" y="1529824"/>
                  <a:pt x="928209" y="2389275"/>
                  <a:pt x="1787662" y="2715867"/>
                </a:cubicBezTo>
                <a:cubicBezTo>
                  <a:pt x="3162786" y="2990891"/>
                  <a:pt x="4795746" y="3085431"/>
                  <a:pt x="7374104" y="3128403"/>
                </a:cubicBezTo>
              </a:path>
            </a:pathLst>
          </a:custGeom>
          <a:noFill/>
          <a:ln w="3007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EBA5A05-06BF-61BA-3685-0190170FD261}"/>
              </a:ext>
            </a:extLst>
          </p:cNvPr>
          <p:cNvSpPr/>
          <p:nvPr/>
        </p:nvSpPr>
        <p:spPr>
          <a:xfrm>
            <a:off x="10157085" y="3946382"/>
            <a:ext cx="8594" cy="2990891"/>
          </a:xfrm>
          <a:custGeom>
            <a:avLst/>
            <a:gdLst>
              <a:gd name="csX0" fmla="*/ 0 w 8594"/>
              <a:gd name="csY0" fmla="*/ 0 h 2990891"/>
              <a:gd name="csX1" fmla="*/ 0 w 8594"/>
              <a:gd name="csY1" fmla="*/ 2990891 h 299089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94" h="2990891">
                <a:moveTo>
                  <a:pt x="0" y="0"/>
                </a:moveTo>
                <a:lnTo>
                  <a:pt x="0" y="2990891"/>
                </a:lnTo>
              </a:path>
            </a:pathLst>
          </a:custGeom>
          <a:ln w="10310" cap="flat">
            <a:noFill/>
            <a:custDash>
              <a:ds d="375000" sp="450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BDBC5F-2D3F-F9E2-7798-3C53B0AF138A}"/>
              </a:ext>
            </a:extLst>
          </p:cNvPr>
          <p:cNvSpPr txBox="1"/>
          <p:nvPr/>
        </p:nvSpPr>
        <p:spPr>
          <a:xfrm>
            <a:off x="9511658" y="3990199"/>
            <a:ext cx="1811265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Top 100 artists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1427E9-A92A-DDE2-5102-2C0B33684827}"/>
              </a:ext>
            </a:extLst>
          </p:cNvPr>
          <p:cNvSpPr txBox="1"/>
          <p:nvPr/>
        </p:nvSpPr>
        <p:spPr>
          <a:xfrm>
            <a:off x="9511658" y="4248034"/>
            <a:ext cx="2114681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950" b="1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≈ 43.7% of plays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BBCE6D-BF68-EFF2-F10C-07834953F158}"/>
              </a:ext>
            </a:extLst>
          </p:cNvPr>
          <p:cNvSpPr txBox="1"/>
          <p:nvPr/>
        </p:nvSpPr>
        <p:spPr>
          <a:xfrm>
            <a:off x="12795605" y="6435576"/>
            <a:ext cx="3659976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75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the long tail · median = 1 listener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7A3A45-A9D1-C015-57B1-0597FA2099B7}"/>
              </a:ext>
            </a:extLst>
          </p:cNvPr>
          <p:cNvSpPr txBox="1"/>
          <p:nvPr/>
        </p:nvSpPr>
        <p:spPr>
          <a:xfrm>
            <a:off x="8383767" y="5213751"/>
            <a:ext cx="744114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75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plays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CC5AB1-7272-72E1-C930-326A35C3452A}"/>
              </a:ext>
            </a:extLst>
          </p:cNvPr>
          <p:cNvSpPr txBox="1"/>
          <p:nvPr/>
        </p:nvSpPr>
        <p:spPr>
          <a:xfrm>
            <a:off x="10311786" y="7084814"/>
            <a:ext cx="3401893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75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artists ranked by total plays →</a:t>
            </a:r>
          </a:p>
        </p:txBody>
      </p:sp>
      <p:sp>
        <p:nvSpPr>
          <p:cNvPr id="14" name="Text 11"/>
          <p:cNvSpPr/>
          <p:nvPr/>
        </p:nvSpPr>
        <p:spPr>
          <a:xfrm>
            <a:off x="8369424" y="7613228"/>
            <a:ext cx="885236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Long-tail distribution (log-scaled plays). Raw play counts span orders of magnitude — confidence weighting is justified.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Agile: a thin slice first, then depth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662065"/>
            <a:ext cx="12950190" cy="1233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slice —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→ popularity → one screen → one metric </a:t>
            </a:r>
            <a:r>
              <a:rPr lang="en-US" sz="232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then deepen one module at a time. Every method sits behind a single </a:t>
            </a:r>
            <a:r>
              <a:rPr lang="en-US" sz="232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/ recommend </a:t>
            </a:r>
            <a:r>
              <a:rPr lang="en-US" sz="232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interface, so they are interchangeable.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990600" y="5238750"/>
            <a:ext cx="16306800" cy="1528763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00125" y="5248275"/>
            <a:ext cx="2310482" cy="150971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90625" y="5495925"/>
            <a:ext cx="21224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190625" y="5938838"/>
            <a:ext cx="21224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prototype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3329657" y="5248275"/>
            <a:ext cx="2310482" cy="150971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520157" y="5495925"/>
            <a:ext cx="21224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3520157" y="5938838"/>
            <a:ext cx="200568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 &amp; preprocessing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5659189" y="5248275"/>
            <a:ext cx="2310482" cy="150971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849689" y="5495925"/>
            <a:ext cx="21224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849689" y="5938838"/>
            <a:ext cx="200568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 baseline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7988722" y="5248275"/>
            <a:ext cx="2310482" cy="150971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179222" y="5495925"/>
            <a:ext cx="21224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179222" y="5938838"/>
            <a:ext cx="200568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Collaborative filtering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318254" y="5248275"/>
            <a:ext cx="2310482" cy="150971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508754" y="5495925"/>
            <a:ext cx="21224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508754" y="5938838"/>
            <a:ext cx="21224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Content-based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2647786" y="5248275"/>
            <a:ext cx="2310482" cy="150971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2838286" y="5495925"/>
            <a:ext cx="21224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838286" y="5938838"/>
            <a:ext cx="200568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factorisation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4977318" y="5248275"/>
            <a:ext cx="2310482" cy="150971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5167818" y="5495925"/>
            <a:ext cx="212243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5167818" y="5938838"/>
            <a:ext cx="21224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90600" y="7148513"/>
            <a:ext cx="64770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3750" dirty="0"/>
          </a:p>
        </p:txBody>
      </p:sp>
      <p:sp>
        <p:nvSpPr>
          <p:cNvPr id="28" name="Text 26"/>
          <p:cNvSpPr/>
          <p:nvPr/>
        </p:nvSpPr>
        <p:spPr>
          <a:xfrm>
            <a:off x="1695450" y="7391400"/>
            <a:ext cx="7905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2943225" y="7148513"/>
            <a:ext cx="933599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</a:t>
            </a:r>
            <a:endParaRPr lang="en-US" sz="3750" dirty="0"/>
          </a:p>
        </p:txBody>
      </p:sp>
      <p:sp>
        <p:nvSpPr>
          <p:cNvPr id="30" name="Text 28"/>
          <p:cNvSpPr/>
          <p:nvPr/>
        </p:nvSpPr>
        <p:spPr>
          <a:xfrm>
            <a:off x="3933974" y="7300913"/>
            <a:ext cx="1219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5610374" y="7148513"/>
            <a:ext cx="361950" cy="652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750" dirty="0"/>
          </a:p>
        </p:txBody>
      </p:sp>
      <p:sp>
        <p:nvSpPr>
          <p:cNvPr id="32" name="Text 30"/>
          <p:cNvSpPr/>
          <p:nvPr/>
        </p:nvSpPr>
        <p:spPr>
          <a:xfrm>
            <a:off x="6029474" y="7391400"/>
            <a:ext cx="6600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src/recsys package, Flask prototype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IMPLICIT-FEEDBACK 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become confidence, not ratings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4247629"/>
            <a:ext cx="7848600" cy="1985963"/>
          </a:xfrm>
          <a:prstGeom prst="rect">
            <a:avLst/>
          </a:prstGeom>
          <a:solidFill>
            <a:srgbClr val="0F1626"/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62075" y="4581004"/>
            <a:ext cx="7816215" cy="604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</a:t>
            </a:r>
            <a:r>
              <a:rPr lang="en-US" sz="345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 + α · log(1 + plays)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362075" y="5281092"/>
            <a:ext cx="731882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Hu, Koren &amp; Volinsky (2008). Log-scaling stops a few superfans dominating.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90600" y="6519342"/>
            <a:ext cx="8084058" cy="829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32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"dislikes" </a:t>
            </a:r>
            <a:r>
              <a:rPr lang="en-US" sz="232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absent artist is unknown, not negative. Confidence weighting is how we encode that.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9448800" y="4551908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9850636" y="4547146"/>
            <a:ext cx="7670167" cy="838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leave-out split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test user is also in training.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448800" y="5581352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850636" y="5576590"/>
            <a:ext cx="7335396" cy="443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</a:t>
            </a: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by every method.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448800" y="6215137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9850636" y="6210374"/>
            <a:ext cx="7670167" cy="838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harness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backbone of a fair comparison.</a:t>
            </a:r>
            <a:endParaRPr lang="en-US" sz="23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THE EIGHT METHODS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families, one shared interface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1957164"/>
            <a:ext cx="16306800" cy="7105873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00125" y="1966689"/>
            <a:ext cx="8134350" cy="234955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343025" y="2214339"/>
            <a:ext cx="12692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2745656" y="2214339"/>
            <a:ext cx="6227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/ listeners / damped — the non-personalised floor (3 variants).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153525" y="1966689"/>
            <a:ext cx="8134350" cy="234955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496425" y="2214339"/>
            <a:ext cx="163465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Item–item CF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264429" y="2214339"/>
            <a:ext cx="58509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Artists co-listened with yours — hand-rolled sparse cosine.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00125" y="4335289"/>
            <a:ext cx="8134350" cy="234955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43025" y="4582939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User–user CF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3267075" y="4582939"/>
            <a:ext cx="524955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Artists from users with similar taste to yours.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153525" y="4335289"/>
            <a:ext cx="8134350" cy="234955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496425" y="4582939"/>
            <a:ext cx="99893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628709" y="4582939"/>
            <a:ext cx="650575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over artist tags; matches your profile; handles cold-start.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00125" y="6703888"/>
            <a:ext cx="8134350" cy="2349624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343025" y="6951538"/>
            <a:ext cx="106129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(MF)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2537668" y="6951538"/>
            <a:ext cx="644152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Hand-implemented Hu/Koren/Volinsky — learns latent taste factors.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153525" y="6703888"/>
            <a:ext cx="8134350" cy="2349624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496425" y="6951538"/>
            <a:ext cx="9906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620375" y="6951538"/>
            <a:ext cx="604633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friends listen to, via the friendship graph.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90600" y="9291638"/>
            <a:ext cx="179374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core logic hand-implemented · numpy / scipy / sklearn used only for speed.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HOW WE EVALUATE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metric families, five random splits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1957164"/>
            <a:ext cx="16306800" cy="7105873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00125" y="1966689"/>
            <a:ext cx="5416525" cy="708682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362075" y="2347689"/>
            <a:ext cx="51618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2075" y="2852514"/>
            <a:ext cx="51618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Precision@10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362075" y="3371627"/>
            <a:ext cx="51618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Recall@10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362075" y="3890739"/>
            <a:ext cx="51618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MAP@10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362075" y="4409852"/>
            <a:ext cx="51618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NDCG@10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6435700" y="1966689"/>
            <a:ext cx="5416525" cy="708682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97650" y="2347689"/>
            <a:ext cx="51618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BEYOND-ACCURACY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97650" y="2852514"/>
            <a:ext cx="51618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coverage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6797650" y="3371627"/>
            <a:ext cx="51618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Intra-list diversity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6797650" y="3890739"/>
            <a:ext cx="51618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6797650" y="4409852"/>
            <a:ext cx="51618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 bias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exposure Gini)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11871275" y="1966689"/>
            <a:ext cx="5416600" cy="7086823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2233225" y="2347689"/>
            <a:ext cx="51619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233225" y="2852514"/>
            <a:ext cx="516197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12233225" y="3371627"/>
            <a:ext cx="516197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latency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990600" y="9291638"/>
            <a:ext cx="179374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result averaged over </a:t>
            </a: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random splits </a:t>
            </a: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std 0.001–0.003 ⇒ rankings are stable.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RESULTS — ACCURACY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 more than doubles the baseline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56696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Item–item CF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3086100" y="3559820"/>
            <a:ext cx="5679430" cy="323850"/>
          </a:xfrm>
          <a:prstGeom prst="rect">
            <a:avLst/>
          </a:prstGeom>
          <a:solidFill>
            <a:srgbClr val="FF4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94069" y="356696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0.177 </a:t>
            </a: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0.220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90600" y="4033689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(MF)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086100" y="4026545"/>
            <a:ext cx="4299645" cy="3238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94069" y="4033689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0.134 </a:t>
            </a: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0.150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90600" y="450041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User–user CF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3086100" y="4493270"/>
            <a:ext cx="4203427" cy="3238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94069" y="450041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0.131 </a:t>
            </a: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0.162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90600" y="4967139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086100" y="4959995"/>
            <a:ext cx="3946699" cy="3238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94069" y="4967139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0.123 </a:t>
            </a: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0.153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90600" y="543386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Content-based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3086100" y="5426720"/>
            <a:ext cx="3208734" cy="3238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694069" y="543386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0.100 </a:t>
            </a: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0.117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90600" y="5893445"/>
            <a:ext cx="1981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(listeners)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3086100" y="6041082"/>
            <a:ext cx="2278187" cy="32385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694069" y="6048226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0.071 · 0.082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90600" y="6662589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(plays)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086100" y="6655445"/>
            <a:ext cx="1957313" cy="32385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694069" y="6662589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0.061 · 0.066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90600" y="712931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(damped)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3086100" y="7122170"/>
            <a:ext cx="1443930" cy="32385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694069" y="712931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0.045 · 0.046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0600" y="7646045"/>
            <a:ext cx="116693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 = Precision@10 · second number = NDCG@10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189619" y="4230886"/>
            <a:ext cx="561855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2.5×</a:t>
            </a:r>
            <a:endParaRPr lang="en-US" sz="6300" dirty="0"/>
          </a:p>
        </p:txBody>
      </p:sp>
      <p:sp>
        <p:nvSpPr>
          <p:cNvPr id="30" name="Text 28"/>
          <p:cNvSpPr/>
          <p:nvPr/>
        </p:nvSpPr>
        <p:spPr>
          <a:xfrm>
            <a:off x="12189619" y="5008066"/>
            <a:ext cx="5261015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Item–item CF Precision@10 vs the best popularity baseline (0.177 → 0.071).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189619" y="5936754"/>
            <a:ext cx="19050" cy="1333500"/>
          </a:xfrm>
          <a:prstGeom prst="rect">
            <a:avLst/>
          </a:prstGeom>
          <a:solidFill>
            <a:srgbClr val="FF4D5E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2418219" y="5936754"/>
            <a:ext cx="503241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surprise: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item–item CF beats the more complex ALS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this small, dense dataset. Sophistication is not automatically better.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BEYOND ACCURACY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method wins every objective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2342927"/>
            <a:ext cx="51816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0600" y="1919064"/>
            <a:ext cx="28289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Catalogue coverage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526235" y="1928589"/>
            <a:ext cx="1810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Item-CF wins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2523902"/>
            <a:ext cx="914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Item-CF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43100" y="2733452"/>
            <a:ext cx="3519562" cy="171450"/>
          </a:xfrm>
          <a:prstGeom prst="rect">
            <a:avLst/>
          </a:prstGeom>
          <a:solidFill>
            <a:srgbClr val="FF4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619750" y="2671539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.158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3238277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43100" y="3300189"/>
            <a:ext cx="3227487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619750" y="3238277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.145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0600" y="3657377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43100" y="3719289"/>
            <a:ext cx="3184699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619750" y="3657377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.143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4076477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943100" y="4138389"/>
            <a:ext cx="2272754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619750" y="4076477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0600" y="4495577"/>
            <a:ext cx="914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User-CF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943100" y="4705127"/>
            <a:ext cx="423863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619750" y="4643214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.019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0600" y="5209952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×3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943100" y="5271864"/>
            <a:ext cx="46286" cy="17145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619750" y="5209952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~.001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0600" y="8961239"/>
            <a:ext cx="53370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 serves the same </a:t>
            </a:r>
            <a:r>
              <a:rPr lang="en-US" sz="1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 artists </a:t>
            </a: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all 1,884 users.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53200" y="2652489"/>
            <a:ext cx="51816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53200" y="1919064"/>
            <a:ext cx="286320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Intra-list diversity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333012" y="1928589"/>
            <a:ext cx="247798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leads accurate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53200" y="2833464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505700" y="2895377"/>
            <a:ext cx="3323630" cy="171450"/>
          </a:xfrm>
          <a:prstGeom prst="rect">
            <a:avLst/>
          </a:prstGeom>
          <a:solidFill>
            <a:srgbClr val="FF4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1182350" y="2833464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.746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53200" y="3252564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505700" y="3314477"/>
            <a:ext cx="3170486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1182350" y="3252564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.712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553200" y="3671664"/>
            <a:ext cx="914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User-CF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505700" y="3881214"/>
            <a:ext cx="2760762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1182350" y="3819302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.620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553200" y="4386039"/>
            <a:ext cx="914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Item-CF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505700" y="4595589"/>
            <a:ext cx="2742977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11182350" y="4533677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.616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53200" y="5100414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×3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505700" y="5162327"/>
            <a:ext cx="3134841" cy="17145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1182350" y="5100414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~.70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553200" y="5519514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505700" y="5581427"/>
            <a:ext cx="1499741" cy="171450"/>
          </a:xfrm>
          <a:prstGeom prst="rect">
            <a:avLst/>
          </a:prstGeom>
          <a:solidFill>
            <a:srgbClr val="FF4D5E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11182350" y="5519514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.337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553200" y="8961239"/>
            <a:ext cx="53370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Content-based is the </a:t>
            </a: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bubble </a:t>
            </a: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least diverse by far.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115800" y="2342927"/>
            <a:ext cx="51816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2115800" y="1919064"/>
            <a:ext cx="10763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Novelty</a:t>
            </a:r>
            <a:endParaRPr lang="en-US" sz="1875" dirty="0"/>
          </a:p>
        </p:txBody>
      </p:sp>
      <p:sp>
        <p:nvSpPr>
          <p:cNvPr id="50" name="Text 48"/>
          <p:cNvSpPr/>
          <p:nvPr/>
        </p:nvSpPr>
        <p:spPr>
          <a:xfrm>
            <a:off x="15651435" y="1928589"/>
            <a:ext cx="1810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wins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115800" y="2523902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3068300" y="2585814"/>
            <a:ext cx="3352130" cy="171450"/>
          </a:xfrm>
          <a:prstGeom prst="rect">
            <a:avLst/>
          </a:prstGeom>
          <a:solidFill>
            <a:srgbClr val="FF4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16744950" y="2523902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6.59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115800" y="2943002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3068300" y="3004914"/>
            <a:ext cx="2504331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16744950" y="2943002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4.92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2115800" y="3362102"/>
            <a:ext cx="914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3068300" y="3424014"/>
            <a:ext cx="2461543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16744950" y="3362102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4.84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2115800" y="3781202"/>
            <a:ext cx="914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Item-CF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3068300" y="3990752"/>
            <a:ext cx="2418829" cy="1714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16744950" y="3928839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4.75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2115800" y="4495577"/>
            <a:ext cx="914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Pop-damp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3068300" y="4705127"/>
            <a:ext cx="1709886" cy="17145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16744950" y="4643214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3.36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2115800" y="5209952"/>
            <a:ext cx="914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Pop-list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3068300" y="5419502"/>
            <a:ext cx="1246808" cy="17145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16744950" y="5357589"/>
            <a:ext cx="628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2.45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2115800" y="8961239"/>
            <a:ext cx="533704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Tag-based recommendation surfaces the </a:t>
            </a:r>
            <a:r>
              <a:rPr lang="en-US" sz="18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least-known </a:t>
            </a: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artists.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THE CORE TRADE-OFF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method is choosing what you value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2367707"/>
            <a:ext cx="11041335" cy="6746677"/>
          </a:xfrm>
          <a:prstGeom prst="rect">
            <a:avLst/>
          </a:prstGeom>
          <a:solidFill>
            <a:srgbClr val="0F1626"/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5875" y="2605832"/>
            <a:ext cx="10450785" cy="6270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65335" y="4336107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12948121" y="4393257"/>
            <a:ext cx="415588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alone at high accuracy.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2565335" y="4969520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12948121" y="5026670"/>
            <a:ext cx="44796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&amp; popularity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accuracy for diversity, top-left.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12565335" y="5922020"/>
            <a:ext cx="306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2948121" y="5979170"/>
            <a:ext cx="454396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diversity outlier, bottom.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2565335" y="6555432"/>
            <a:ext cx="4873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NDCG@10 · y = intra-list diversity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POPULARITY BIAS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gets exposure — and who never does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571726"/>
            <a:ext cx="1981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(listeners)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3086100" y="3738414"/>
            <a:ext cx="7179915" cy="285750"/>
          </a:xfrm>
          <a:prstGeom prst="rect">
            <a:avLst/>
          </a:prstGeom>
          <a:solidFill>
            <a:srgbClr val="FF4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456515" y="3726507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0.186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90600" y="4343251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(plays)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086100" y="4355157"/>
            <a:ext cx="6368579" cy="285750"/>
          </a:xfrm>
          <a:prstGeom prst="rect">
            <a:avLst/>
          </a:prstGeom>
          <a:solidFill>
            <a:srgbClr val="FF4D5E">
              <a:alpha val="8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456515" y="4343251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0.165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90600" y="480521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User–user CF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3086100" y="4817120"/>
            <a:ext cx="5406405" cy="285750"/>
          </a:xfrm>
          <a:prstGeom prst="rect">
            <a:avLst/>
          </a:prstGeom>
          <a:solidFill>
            <a:srgbClr val="FF4D5E">
              <a:alpha val="7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456515" y="4805214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0.140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90600" y="5267176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(damped)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086100" y="5279082"/>
            <a:ext cx="4631010" cy="285750"/>
          </a:xfrm>
          <a:prstGeom prst="rect">
            <a:avLst/>
          </a:prstGeom>
          <a:solidFill>
            <a:srgbClr val="FF4D5E">
              <a:alpha val="6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456515" y="5267176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0.120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90600" y="5729139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Item–item CF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3086100" y="5741045"/>
            <a:ext cx="3245272" cy="2857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456515" y="5729139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0.084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90600" y="6191101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3086100" y="6203007"/>
            <a:ext cx="3008337" cy="2857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456515" y="6191101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0.078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90600" y="6653064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(MF)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086100" y="6664970"/>
            <a:ext cx="2046238" cy="2857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456515" y="6653064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0.053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90600" y="7115026"/>
            <a:ext cx="20955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Content-based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3086100" y="7126932"/>
            <a:ext cx="1313855" cy="28575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456515" y="7115026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0.034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0600" y="7634139"/>
            <a:ext cx="112507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 = mean popularity of recommended artists (lower = less biased)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790015" y="4518943"/>
            <a:ext cx="5672530" cy="1234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325" b="1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least biased (0.034); popularity concentrates exposure on near-total winners.</a:t>
            </a:r>
            <a:endParaRPr lang="en-US" sz="2325" dirty="0"/>
          </a:p>
        </p:txBody>
      </p:sp>
      <p:sp>
        <p:nvSpPr>
          <p:cNvPr id="30" name="Shape 28"/>
          <p:cNvSpPr/>
          <p:nvPr/>
        </p:nvSpPr>
        <p:spPr>
          <a:xfrm>
            <a:off x="11790015" y="5982146"/>
            <a:ext cx="19050" cy="1000125"/>
          </a:xfrm>
          <a:prstGeom prst="rect">
            <a:avLst/>
          </a:prstGeom>
          <a:solidFill>
            <a:srgbClr val="FF4D5E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2018615" y="5982146"/>
            <a:ext cx="544393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caveat: even "personalised"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user–user CF leans on crowd-pleasers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(0.140) — personalisation alone does not fix bias.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SCALABILITY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cost profiles, no universal winner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4219426"/>
            <a:ext cx="992841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time (seconds)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600" y="4681389"/>
            <a:ext cx="17811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(MF)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2781300" y="4683770"/>
            <a:ext cx="6301680" cy="304800"/>
          </a:xfrm>
          <a:prstGeom prst="rect">
            <a:avLst/>
          </a:prstGeom>
          <a:solidFill>
            <a:srgbClr val="FF4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254430" y="4681389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90600" y="5143351"/>
            <a:ext cx="17811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2781300" y="5145732"/>
            <a:ext cx="37802" cy="30480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254430" y="5143351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90600" y="5605314"/>
            <a:ext cx="17811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User-CF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2781300" y="5607695"/>
            <a:ext cx="31477" cy="30480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254430" y="5605314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90600" y="6067276"/>
            <a:ext cx="17811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2781300" y="6069657"/>
            <a:ext cx="31477" cy="30480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254430" y="6067276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90600" y="6529239"/>
            <a:ext cx="17811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Item-CF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2781300" y="6531620"/>
            <a:ext cx="28575" cy="304800"/>
          </a:xfrm>
          <a:prstGeom prst="rect">
            <a:avLst/>
          </a:prstGeom>
          <a:solidFill>
            <a:srgbClr val="4657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254430" y="6529239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90600" y="6991201"/>
            <a:ext cx="178117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×3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2781300" y="6993582"/>
            <a:ext cx="28575" cy="30480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254430" y="6991201"/>
            <a:ext cx="838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0626030" y="4121795"/>
            <a:ext cx="6671370" cy="3276600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635555" y="4131320"/>
            <a:ext cx="6652320" cy="161925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959405" y="4417070"/>
            <a:ext cx="66050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Memory-based CF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0959405" y="4821882"/>
            <a:ext cx="618475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 in </a:t>
            </a: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~0.02s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but stores a full </a:t>
            </a: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17,632²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item–item similarity matrix.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635555" y="5769620"/>
            <a:ext cx="6652320" cy="161925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959405" y="6055370"/>
            <a:ext cx="66050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(MF)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0959405" y="6460182"/>
            <a:ext cx="618475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</a:t>
            </a: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~6.3s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then serves in </a:t>
            </a: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~0.2ms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compact factor matrices.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0099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FULL COMPARISON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190625"/>
            <a:ext cx="1009941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method, every axis, one table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1536635" y="1509489"/>
            <a:ext cx="633684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10 · mean over 5 splits · ~1,884 users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3362176"/>
            <a:ext cx="16306800" cy="19050"/>
          </a:xfrm>
          <a:prstGeom prst="rect">
            <a:avLst/>
          </a:prstGeom>
          <a:solidFill>
            <a:srgbClr val="FF4D5E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43000" y="2890689"/>
            <a:ext cx="371331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967883" y="2890689"/>
            <a:ext cx="128535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P@10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481837" y="2890689"/>
            <a:ext cx="128535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NDCG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995791" y="2890689"/>
            <a:ext cx="18076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032057" y="2890689"/>
            <a:ext cx="200858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Diversity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269242" y="2890689"/>
            <a:ext cx="160667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Novelty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104516" y="2890689"/>
            <a:ext cx="160667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PopBias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5939790" y="2890689"/>
            <a:ext cx="12052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90600" y="4024164"/>
            <a:ext cx="163068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43000" y="3533626"/>
            <a:ext cx="371331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Item–item CF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891683" y="3381226"/>
            <a:ext cx="1513954" cy="652463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967883" y="3533626"/>
            <a:ext cx="128535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0.177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6405637" y="3381226"/>
            <a:ext cx="1513954" cy="652463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81837" y="3533626"/>
            <a:ext cx="128535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0.220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7919591" y="3381226"/>
            <a:ext cx="2036266" cy="652463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995791" y="3533626"/>
            <a:ext cx="180766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0.158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0032057" y="3533626"/>
            <a:ext cx="200858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0.616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2269242" y="3533626"/>
            <a:ext cx="160667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4.75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4104516" y="3533626"/>
            <a:ext cx="160667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0.084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5939790" y="3533626"/>
            <a:ext cx="120521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990600" y="4671864"/>
            <a:ext cx="163068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143000" y="4186089"/>
            <a:ext cx="3713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 (MF)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4967883" y="41860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0.134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6481837" y="41860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0.150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7995791" y="4186089"/>
            <a:ext cx="1807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0.102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032057" y="4186089"/>
            <a:ext cx="2008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0.746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2269242" y="41860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4.92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14104516" y="41860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0.053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5939790" y="4186089"/>
            <a:ext cx="12052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990600" y="5319564"/>
            <a:ext cx="163068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143000" y="4833789"/>
            <a:ext cx="3713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User–user CF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4967883" y="48337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0.131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6481837" y="48337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0.162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7995791" y="4833789"/>
            <a:ext cx="1807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0.019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10032057" y="4833789"/>
            <a:ext cx="2008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0.620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12269242" y="48337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2.98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14104516" y="48337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0.140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15939790" y="4833789"/>
            <a:ext cx="12052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990600" y="5967264"/>
            <a:ext cx="163068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1143000" y="5481489"/>
            <a:ext cx="3713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(friends)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4967883" y="54814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0.123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6481837" y="54814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0.153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7995791" y="5481489"/>
            <a:ext cx="1807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0.143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10032057" y="5481489"/>
            <a:ext cx="2008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0.712</a:t>
            </a:r>
            <a:endParaRPr lang="en-US" sz="2025" dirty="0"/>
          </a:p>
        </p:txBody>
      </p:sp>
      <p:sp>
        <p:nvSpPr>
          <p:cNvPr id="50" name="Text 48"/>
          <p:cNvSpPr/>
          <p:nvPr/>
        </p:nvSpPr>
        <p:spPr>
          <a:xfrm>
            <a:off x="12269242" y="54814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4.84</a:t>
            </a:r>
            <a:endParaRPr lang="en-US" sz="2025" dirty="0"/>
          </a:p>
        </p:txBody>
      </p:sp>
      <p:sp>
        <p:nvSpPr>
          <p:cNvPr id="51" name="Text 49"/>
          <p:cNvSpPr/>
          <p:nvPr/>
        </p:nvSpPr>
        <p:spPr>
          <a:xfrm>
            <a:off x="14104516" y="54814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0.078</a:t>
            </a:r>
            <a:endParaRPr lang="en-US" sz="2025" dirty="0"/>
          </a:p>
        </p:txBody>
      </p:sp>
      <p:sp>
        <p:nvSpPr>
          <p:cNvPr id="52" name="Text 50"/>
          <p:cNvSpPr/>
          <p:nvPr/>
        </p:nvSpPr>
        <p:spPr>
          <a:xfrm>
            <a:off x="15939790" y="5481489"/>
            <a:ext cx="12052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</a:t>
            </a:r>
            <a:endParaRPr lang="en-US" sz="2025" dirty="0"/>
          </a:p>
        </p:txBody>
      </p:sp>
      <p:sp>
        <p:nvSpPr>
          <p:cNvPr id="53" name="Shape 51"/>
          <p:cNvSpPr/>
          <p:nvPr/>
        </p:nvSpPr>
        <p:spPr>
          <a:xfrm>
            <a:off x="990600" y="6614964"/>
            <a:ext cx="163068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1143000" y="6129189"/>
            <a:ext cx="3713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Content-based</a:t>
            </a:r>
            <a:endParaRPr lang="en-US" sz="2025" dirty="0"/>
          </a:p>
        </p:txBody>
      </p:sp>
      <p:sp>
        <p:nvSpPr>
          <p:cNvPr id="55" name="Text 53"/>
          <p:cNvSpPr/>
          <p:nvPr/>
        </p:nvSpPr>
        <p:spPr>
          <a:xfrm>
            <a:off x="4967883" y="61291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0.100</a:t>
            </a:r>
            <a:endParaRPr lang="en-US" sz="2025" dirty="0"/>
          </a:p>
        </p:txBody>
      </p:sp>
      <p:sp>
        <p:nvSpPr>
          <p:cNvPr id="56" name="Text 54"/>
          <p:cNvSpPr/>
          <p:nvPr/>
        </p:nvSpPr>
        <p:spPr>
          <a:xfrm>
            <a:off x="6481837" y="61291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0.117</a:t>
            </a:r>
            <a:endParaRPr lang="en-US" sz="2025" dirty="0"/>
          </a:p>
        </p:txBody>
      </p:sp>
      <p:sp>
        <p:nvSpPr>
          <p:cNvPr id="57" name="Text 55"/>
          <p:cNvSpPr/>
          <p:nvPr/>
        </p:nvSpPr>
        <p:spPr>
          <a:xfrm>
            <a:off x="7995791" y="6129189"/>
            <a:ext cx="1807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0.145</a:t>
            </a:r>
            <a:endParaRPr lang="en-US" sz="2025" dirty="0"/>
          </a:p>
        </p:txBody>
      </p:sp>
      <p:sp>
        <p:nvSpPr>
          <p:cNvPr id="58" name="Text 56"/>
          <p:cNvSpPr/>
          <p:nvPr/>
        </p:nvSpPr>
        <p:spPr>
          <a:xfrm>
            <a:off x="10032057" y="6129189"/>
            <a:ext cx="2008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0.337</a:t>
            </a:r>
            <a:endParaRPr lang="en-US" sz="2025" dirty="0"/>
          </a:p>
        </p:txBody>
      </p:sp>
      <p:sp>
        <p:nvSpPr>
          <p:cNvPr id="59" name="Shape 57"/>
          <p:cNvSpPr/>
          <p:nvPr/>
        </p:nvSpPr>
        <p:spPr>
          <a:xfrm>
            <a:off x="12193042" y="5976789"/>
            <a:ext cx="1835274" cy="647700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12269242" y="61291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6.59</a:t>
            </a:r>
            <a:endParaRPr lang="en-US" sz="2025" dirty="0"/>
          </a:p>
        </p:txBody>
      </p:sp>
      <p:sp>
        <p:nvSpPr>
          <p:cNvPr id="61" name="Shape 59"/>
          <p:cNvSpPr/>
          <p:nvPr/>
        </p:nvSpPr>
        <p:spPr>
          <a:xfrm>
            <a:off x="14028316" y="5976789"/>
            <a:ext cx="1835274" cy="647700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14104516" y="61291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0.034</a:t>
            </a:r>
            <a:endParaRPr lang="en-US" sz="2025" dirty="0"/>
          </a:p>
        </p:txBody>
      </p:sp>
      <p:sp>
        <p:nvSpPr>
          <p:cNvPr id="63" name="Text 61"/>
          <p:cNvSpPr/>
          <p:nvPr/>
        </p:nvSpPr>
        <p:spPr>
          <a:xfrm>
            <a:off x="15939790" y="6129189"/>
            <a:ext cx="12052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</a:t>
            </a:r>
            <a:endParaRPr lang="en-US" sz="2025" dirty="0"/>
          </a:p>
        </p:txBody>
      </p:sp>
      <p:sp>
        <p:nvSpPr>
          <p:cNvPr id="64" name="Shape 62"/>
          <p:cNvSpPr/>
          <p:nvPr/>
        </p:nvSpPr>
        <p:spPr>
          <a:xfrm>
            <a:off x="990600" y="7262664"/>
            <a:ext cx="163068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1143000" y="6776889"/>
            <a:ext cx="3713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(listeners)</a:t>
            </a:r>
            <a:endParaRPr lang="en-US" sz="2025" dirty="0"/>
          </a:p>
        </p:txBody>
      </p:sp>
      <p:sp>
        <p:nvSpPr>
          <p:cNvPr id="66" name="Text 64"/>
          <p:cNvSpPr/>
          <p:nvPr/>
        </p:nvSpPr>
        <p:spPr>
          <a:xfrm>
            <a:off x="4967883" y="67768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0.071</a:t>
            </a:r>
            <a:endParaRPr lang="en-US" sz="2025" dirty="0"/>
          </a:p>
        </p:txBody>
      </p:sp>
      <p:sp>
        <p:nvSpPr>
          <p:cNvPr id="67" name="Text 65"/>
          <p:cNvSpPr/>
          <p:nvPr/>
        </p:nvSpPr>
        <p:spPr>
          <a:xfrm>
            <a:off x="6481837" y="67768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0.082</a:t>
            </a:r>
            <a:endParaRPr lang="en-US" sz="2025" dirty="0"/>
          </a:p>
        </p:txBody>
      </p:sp>
      <p:sp>
        <p:nvSpPr>
          <p:cNvPr id="68" name="Text 66"/>
          <p:cNvSpPr/>
          <p:nvPr/>
        </p:nvSpPr>
        <p:spPr>
          <a:xfrm>
            <a:off x="7995791" y="6776889"/>
            <a:ext cx="1807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0.002</a:t>
            </a:r>
            <a:endParaRPr lang="en-US" sz="2025" dirty="0"/>
          </a:p>
        </p:txBody>
      </p:sp>
      <p:sp>
        <p:nvSpPr>
          <p:cNvPr id="69" name="Text 67"/>
          <p:cNvSpPr/>
          <p:nvPr/>
        </p:nvSpPr>
        <p:spPr>
          <a:xfrm>
            <a:off x="10032057" y="6776889"/>
            <a:ext cx="2008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0.632</a:t>
            </a:r>
            <a:endParaRPr lang="en-US" sz="2025" dirty="0"/>
          </a:p>
        </p:txBody>
      </p:sp>
      <p:sp>
        <p:nvSpPr>
          <p:cNvPr id="70" name="Text 68"/>
          <p:cNvSpPr/>
          <p:nvPr/>
        </p:nvSpPr>
        <p:spPr>
          <a:xfrm>
            <a:off x="12269242" y="67768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2.45</a:t>
            </a:r>
            <a:endParaRPr lang="en-US" sz="2025" dirty="0"/>
          </a:p>
        </p:txBody>
      </p:sp>
      <p:sp>
        <p:nvSpPr>
          <p:cNvPr id="71" name="Text 69"/>
          <p:cNvSpPr/>
          <p:nvPr/>
        </p:nvSpPr>
        <p:spPr>
          <a:xfrm>
            <a:off x="14104516" y="67768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0.186</a:t>
            </a:r>
            <a:endParaRPr lang="en-US" sz="2025" dirty="0"/>
          </a:p>
        </p:txBody>
      </p:sp>
      <p:sp>
        <p:nvSpPr>
          <p:cNvPr id="72" name="Shape 70"/>
          <p:cNvSpPr/>
          <p:nvPr/>
        </p:nvSpPr>
        <p:spPr>
          <a:xfrm>
            <a:off x="15863590" y="6624489"/>
            <a:ext cx="1433810" cy="647700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15939790" y="6776889"/>
            <a:ext cx="12052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2025" dirty="0"/>
          </a:p>
        </p:txBody>
      </p:sp>
      <p:sp>
        <p:nvSpPr>
          <p:cNvPr id="74" name="Shape 72"/>
          <p:cNvSpPr/>
          <p:nvPr/>
        </p:nvSpPr>
        <p:spPr>
          <a:xfrm>
            <a:off x="990600" y="7910364"/>
            <a:ext cx="163068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1143000" y="7424589"/>
            <a:ext cx="3713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(plays)</a:t>
            </a:r>
            <a:endParaRPr lang="en-US" sz="2025" dirty="0"/>
          </a:p>
        </p:txBody>
      </p:sp>
      <p:sp>
        <p:nvSpPr>
          <p:cNvPr id="76" name="Text 74"/>
          <p:cNvSpPr/>
          <p:nvPr/>
        </p:nvSpPr>
        <p:spPr>
          <a:xfrm>
            <a:off x="4967883" y="74245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0.061</a:t>
            </a:r>
            <a:endParaRPr lang="en-US" sz="2025" dirty="0"/>
          </a:p>
        </p:txBody>
      </p:sp>
      <p:sp>
        <p:nvSpPr>
          <p:cNvPr id="77" name="Text 75"/>
          <p:cNvSpPr/>
          <p:nvPr/>
        </p:nvSpPr>
        <p:spPr>
          <a:xfrm>
            <a:off x="6481837" y="7424589"/>
            <a:ext cx="12853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0.066</a:t>
            </a:r>
            <a:endParaRPr lang="en-US" sz="2025" dirty="0"/>
          </a:p>
        </p:txBody>
      </p:sp>
      <p:sp>
        <p:nvSpPr>
          <p:cNvPr id="78" name="Text 76"/>
          <p:cNvSpPr/>
          <p:nvPr/>
        </p:nvSpPr>
        <p:spPr>
          <a:xfrm>
            <a:off x="7995791" y="7424589"/>
            <a:ext cx="18076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endParaRPr lang="en-US" sz="2025" dirty="0"/>
          </a:p>
        </p:txBody>
      </p:sp>
      <p:sp>
        <p:nvSpPr>
          <p:cNvPr id="79" name="Text 77"/>
          <p:cNvSpPr/>
          <p:nvPr/>
        </p:nvSpPr>
        <p:spPr>
          <a:xfrm>
            <a:off x="10032057" y="7424589"/>
            <a:ext cx="2008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0.698</a:t>
            </a:r>
            <a:endParaRPr lang="en-US" sz="2025" dirty="0"/>
          </a:p>
        </p:txBody>
      </p:sp>
      <p:sp>
        <p:nvSpPr>
          <p:cNvPr id="80" name="Text 78"/>
          <p:cNvSpPr/>
          <p:nvPr/>
        </p:nvSpPr>
        <p:spPr>
          <a:xfrm>
            <a:off x="12269242" y="74245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2.69</a:t>
            </a:r>
            <a:endParaRPr lang="en-US" sz="2025" dirty="0"/>
          </a:p>
        </p:txBody>
      </p:sp>
      <p:sp>
        <p:nvSpPr>
          <p:cNvPr id="81" name="Text 79"/>
          <p:cNvSpPr/>
          <p:nvPr/>
        </p:nvSpPr>
        <p:spPr>
          <a:xfrm>
            <a:off x="14104516" y="7424589"/>
            <a:ext cx="1606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0.165</a:t>
            </a:r>
            <a:endParaRPr lang="en-US" sz="2025" dirty="0"/>
          </a:p>
        </p:txBody>
      </p:sp>
      <p:sp>
        <p:nvSpPr>
          <p:cNvPr id="82" name="Shape 80"/>
          <p:cNvSpPr/>
          <p:nvPr/>
        </p:nvSpPr>
        <p:spPr>
          <a:xfrm>
            <a:off x="15863590" y="7272189"/>
            <a:ext cx="1433810" cy="647700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15939790" y="7424589"/>
            <a:ext cx="12052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2025" dirty="0"/>
          </a:p>
        </p:txBody>
      </p:sp>
      <p:sp>
        <p:nvSpPr>
          <p:cNvPr id="84" name="Text 82"/>
          <p:cNvSpPr/>
          <p:nvPr/>
        </p:nvSpPr>
        <p:spPr>
          <a:xfrm>
            <a:off x="1143000" y="8072289"/>
            <a:ext cx="371331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(damped)</a:t>
            </a:r>
            <a:endParaRPr lang="en-US" sz="2025" dirty="0"/>
          </a:p>
        </p:txBody>
      </p:sp>
      <p:sp>
        <p:nvSpPr>
          <p:cNvPr id="85" name="Text 83"/>
          <p:cNvSpPr/>
          <p:nvPr/>
        </p:nvSpPr>
        <p:spPr>
          <a:xfrm>
            <a:off x="4967883" y="8072289"/>
            <a:ext cx="128535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0.045</a:t>
            </a:r>
            <a:endParaRPr lang="en-US" sz="2025" dirty="0"/>
          </a:p>
        </p:txBody>
      </p:sp>
      <p:sp>
        <p:nvSpPr>
          <p:cNvPr id="86" name="Text 84"/>
          <p:cNvSpPr/>
          <p:nvPr/>
        </p:nvSpPr>
        <p:spPr>
          <a:xfrm>
            <a:off x="6481837" y="8072289"/>
            <a:ext cx="128535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0.046</a:t>
            </a:r>
            <a:endParaRPr lang="en-US" sz="2025" dirty="0"/>
          </a:p>
        </p:txBody>
      </p:sp>
      <p:sp>
        <p:nvSpPr>
          <p:cNvPr id="87" name="Text 85"/>
          <p:cNvSpPr/>
          <p:nvPr/>
        </p:nvSpPr>
        <p:spPr>
          <a:xfrm>
            <a:off x="7995791" y="8072289"/>
            <a:ext cx="180766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endParaRPr lang="en-US" sz="2025" dirty="0"/>
          </a:p>
        </p:txBody>
      </p:sp>
      <p:sp>
        <p:nvSpPr>
          <p:cNvPr id="88" name="Shape 86"/>
          <p:cNvSpPr/>
          <p:nvPr/>
        </p:nvSpPr>
        <p:spPr>
          <a:xfrm>
            <a:off x="9955857" y="7919889"/>
            <a:ext cx="2237184" cy="642938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10032057" y="8072289"/>
            <a:ext cx="200858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0.753</a:t>
            </a:r>
            <a:endParaRPr lang="en-US" sz="2025" dirty="0"/>
          </a:p>
        </p:txBody>
      </p:sp>
      <p:sp>
        <p:nvSpPr>
          <p:cNvPr id="90" name="Text 88"/>
          <p:cNvSpPr/>
          <p:nvPr/>
        </p:nvSpPr>
        <p:spPr>
          <a:xfrm>
            <a:off x="12269242" y="8072289"/>
            <a:ext cx="160667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3.36</a:t>
            </a:r>
            <a:endParaRPr lang="en-US" sz="2025" dirty="0"/>
          </a:p>
        </p:txBody>
      </p:sp>
      <p:sp>
        <p:nvSpPr>
          <p:cNvPr id="91" name="Text 89"/>
          <p:cNvSpPr/>
          <p:nvPr/>
        </p:nvSpPr>
        <p:spPr>
          <a:xfrm>
            <a:off x="14104516" y="8072289"/>
            <a:ext cx="160667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0.120</a:t>
            </a:r>
            <a:endParaRPr lang="en-US" sz="2025" dirty="0"/>
          </a:p>
        </p:txBody>
      </p:sp>
      <p:sp>
        <p:nvSpPr>
          <p:cNvPr id="92" name="Shape 90"/>
          <p:cNvSpPr/>
          <p:nvPr/>
        </p:nvSpPr>
        <p:spPr>
          <a:xfrm>
            <a:off x="15863590" y="7919889"/>
            <a:ext cx="1433810" cy="642938"/>
          </a:xfrm>
          <a:prstGeom prst="rect">
            <a:avLst/>
          </a:prstGeom>
          <a:solidFill>
            <a:srgbClr val="FF4D5E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15939790" y="8072289"/>
            <a:ext cx="12052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2025" dirty="0"/>
          </a:p>
        </p:txBody>
      </p:sp>
      <p:sp>
        <p:nvSpPr>
          <p:cNvPr id="94" name="Text 92"/>
          <p:cNvSpPr/>
          <p:nvPr/>
        </p:nvSpPr>
        <p:spPr>
          <a:xfrm>
            <a:off x="990600" y="9305925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Highlighted </a:t>
            </a: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best in column · PopBias &amp; fit s: lower is better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12B · COLD-START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 reaches what nothing else can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4321820"/>
            <a:ext cx="808405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2,211 artists with zero training plays, how many can each method recommend?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600" y="5205264"/>
            <a:ext cx="2409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Content-based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352800" y="5169545"/>
            <a:ext cx="2473970" cy="381000"/>
          </a:xfrm>
          <a:prstGeom prst="rect">
            <a:avLst/>
          </a:prstGeom>
          <a:solidFill>
            <a:srgbClr val="FF4D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981950" y="5205264"/>
            <a:ext cx="9334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1,227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90600" y="5702945"/>
            <a:ext cx="22669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/ ALS / Social / Pop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3352800" y="5822007"/>
            <a:ext cx="38100" cy="381000"/>
          </a:xfrm>
          <a:prstGeom prst="rect">
            <a:avLst/>
          </a:prstGeom>
          <a:solidFill>
            <a:srgbClr val="2B3A5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981950" y="5857726"/>
            <a:ext cx="9334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90600" y="6550670"/>
            <a:ext cx="808405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method has no representation for an unseen artist — it simply isn't in their item space.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448800" y="4278957"/>
            <a:ext cx="7848600" cy="2981325"/>
          </a:xfrm>
          <a:prstGeom prst="rect">
            <a:avLst/>
          </a:prstGeom>
          <a:solidFill>
            <a:srgbClr val="0F1626"/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877425" y="4669482"/>
            <a:ext cx="76904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FLIP SIDE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77425" y="5136207"/>
            <a:ext cx="135790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1283330" y="5598170"/>
            <a:ext cx="524251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users have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40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interactions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877425" y="6203007"/>
            <a:ext cx="720109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 cold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exist, so accuracy is flat across user history — an honest finding about the dataset, not the methods.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TECHNICAL CHALLENGES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genuinely hard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2722513"/>
            <a:ext cx="361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447800" y="2660600"/>
            <a:ext cx="7652385" cy="82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sparsity (99.7%)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negatives — absence ≠ dislike.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9410700" y="2722513"/>
            <a:ext cx="361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867900" y="2660600"/>
            <a:ext cx="7652385" cy="82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the comparison fair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split, one harness, interchangeable models.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990600" y="5242173"/>
            <a:ext cx="361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47800" y="5180261"/>
            <a:ext cx="7652385" cy="1216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Hand-implementing ALS correctly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validated by a closed-form unit test + a synthetic two-cluster sanity check.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410700" y="5437063"/>
            <a:ext cx="361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867900" y="5375151"/>
            <a:ext cx="7652385" cy="82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only means something in tag space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defining a meaningful metric.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90600" y="8151614"/>
            <a:ext cx="361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47800" y="8089702"/>
            <a:ext cx="7652385" cy="82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accuracy against bias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two pull in opposite directions.</a:t>
            </a:r>
            <a:endParaRPr lang="en-US" sz="2325" dirty="0"/>
          </a:p>
        </p:txBody>
      </p:sp>
      <p:sp>
        <p:nvSpPr>
          <p:cNvPr id="12" name="Text 12"/>
          <p:cNvSpPr/>
          <p:nvPr/>
        </p:nvSpPr>
        <p:spPr>
          <a:xfrm>
            <a:off x="9409176" y="8151614"/>
            <a:ext cx="361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75" dirty="0"/>
          </a:p>
        </p:txBody>
      </p:sp>
      <p:sp>
        <p:nvSpPr>
          <p:cNvPr id="13" name="Text 13"/>
          <p:cNvSpPr/>
          <p:nvPr/>
        </p:nvSpPr>
        <p:spPr>
          <a:xfrm>
            <a:off x="9866376" y="8089702"/>
            <a:ext cx="7652385" cy="827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a 13-second cold start </a:t>
            </a:r>
            <a:r>
              <a:rPr lang="en-US" sz="232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precomputing all 15,136 lists so the demo needs no server.</a:t>
            </a:r>
            <a:endParaRPr lang="en-US" sz="23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HONEST LIMITATIONS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fixed, and what remains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1957164"/>
            <a:ext cx="16306800" cy="7644036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00125" y="1966689"/>
            <a:ext cx="7230517" cy="7624986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400175" y="2347689"/>
            <a:ext cx="70734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FIXED, NOT EXCUSED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0175" y="2833464"/>
            <a:ext cx="70734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Averaged over </a:t>
            </a:r>
            <a:r>
              <a:rPr lang="en-US" sz="187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seeds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one.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00175" y="3314477"/>
            <a:ext cx="70734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</a:t>
            </a:r>
            <a:r>
              <a:rPr lang="en-US" sz="187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on a validation split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00175" y="3795489"/>
            <a:ext cx="70734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</a:t>
            </a:r>
            <a:r>
              <a:rPr lang="en-US" sz="187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assumed.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00175" y="4276502"/>
            <a:ext cx="707345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Friendship graph turned into a </a:t>
            </a:r>
            <a:r>
              <a:rPr lang="en-US" sz="187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method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249692" y="1966689"/>
            <a:ext cx="9038109" cy="7624986"/>
          </a:xfrm>
          <a:prstGeom prst="rect">
            <a:avLst/>
          </a:prstGeom>
          <a:solidFill>
            <a:srgbClr val="0F1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649742" y="2347689"/>
            <a:ext cx="90618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GENUINELY REMAINS (MOSTLY INHERENT)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49742" y="2833464"/>
            <a:ext cx="848514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temporal split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interaction file has no timestamps (dataset constraint).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8649742" y="3595464"/>
            <a:ext cx="848514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rewards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re-discovering played artists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true discovery — needs an online test.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649742" y="4357464"/>
            <a:ext cx="90618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validated by unit + synthetic tests,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</a:t>
            </a:r>
            <a:r>
              <a:rPr lang="en-US" sz="1875" dirty="0">
                <a:solidFill>
                  <a:srgbClr val="EA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implicit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8649742" y="4805139"/>
            <a:ext cx="90618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is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tag-space only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exposure Gini near-saturated for all methods.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649742" y="5252814"/>
            <a:ext cx="90618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dense data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flatters popularity 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leaves almost no cold users.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8649742" y="5700489"/>
            <a:ext cx="90618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described </a:t>
            </a:r>
            <a:r>
              <a:rPr lang="en-US" sz="1875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this scale only</a:t>
            </a: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UI is a prototype, not user-tested.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620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FINAL REMARKS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209675"/>
            <a:ext cx="1550670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b="1" kern="0" spc="-46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system is a portfolio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1957164"/>
            <a:ext cx="16306800" cy="6729636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00125" y="1966689"/>
            <a:ext cx="4057650" cy="6710586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85875" y="2290539"/>
            <a:ext cx="3834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5875" y="2719164"/>
            <a:ext cx="38347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Item–item CF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285875" y="3190652"/>
            <a:ext cx="359073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accuracy + coverage, trivial training.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076825" y="1966689"/>
            <a:ext cx="4057650" cy="6710586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362575" y="2290539"/>
            <a:ext cx="3834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COLD-START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62575" y="2719164"/>
            <a:ext cx="38347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Content-based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5362575" y="3190652"/>
            <a:ext cx="359073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unseen artists; adds novelty.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153525" y="1966689"/>
            <a:ext cx="4057650" cy="6710586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439275" y="2290539"/>
            <a:ext cx="3834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39275" y="2719164"/>
            <a:ext cx="38347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9439275" y="3190652"/>
            <a:ext cx="359073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Broadens coverage where a graph exists.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3230225" y="1966689"/>
            <a:ext cx="4057650" cy="6710586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3515975" y="2290539"/>
            <a:ext cx="3834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515975" y="2719164"/>
            <a:ext cx="38347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13515975" y="3190652"/>
            <a:ext cx="3834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Cold-user safety net.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90600" y="8934450"/>
            <a:ext cx="647110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necessary but not sufficient — diversity, novelty, coverage, bias and scalability all matter.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7558980" y="9120188"/>
            <a:ext cx="1071226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hybrid blending · learning-to-rank · </a:t>
            </a:r>
            <a:r>
              <a:rPr lang="en-US" sz="1800" dirty="0">
                <a:solidFill>
                  <a:srgbClr val="93A0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implicit</a:t>
            </a:r>
            <a:r>
              <a:rPr lang="en-US" sz="1800" dirty="0">
                <a:solidFill>
                  <a:srgbClr val="5E6B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-library cross-check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4D5E">
                  <a:alpha val="13000"/>
                </a:srgbClr>
              </a:gs>
              <a:gs pos="62000">
                <a:srgbClr val="FF4D5E">
                  <a:alpha val="0"/>
                </a:srgbClr>
              </a:gs>
            </a:gsLst>
            <a:path path="circle">
              <a:fillToRect l="72000" t="70000" r="28000" b="30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3549030"/>
            <a:ext cx="1946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FF4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4301505"/>
            <a:ext cx="7431566" cy="1598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850" b="1" kern="0" spc="-117" dirty="0">
                <a:solidFill>
                  <a:srgbClr val="EA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necessary. </a:t>
            </a:r>
            <a:r>
              <a:rPr lang="en-US" sz="5850" b="1" kern="0" spc="-117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sufficient.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90600" y="6318870"/>
            <a:ext cx="62747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3A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2105</Words>
  <Application>Microsoft Macintosh PowerPoint</Application>
  <PresentationFormat>Custom</PresentationFormat>
  <Paragraphs>388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Gratacos Fuste, Pau</cp:lastModifiedBy>
  <cp:revision>2</cp:revision>
  <dcterms:created xsi:type="dcterms:W3CDTF">2026-06-29T10:54:32Z</dcterms:created>
  <dcterms:modified xsi:type="dcterms:W3CDTF">2026-06-30T12:08:41Z</dcterms:modified>
</cp:coreProperties>
</file>
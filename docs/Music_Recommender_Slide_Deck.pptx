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2.svg" ContentType="image/svg+xml"/>
  <Override PartName="/ppt/media/image-3-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is a comparison study, not a 'we built a thing' demo. The honesty angle is the spine of the whole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dataset's nature dictates every design decision: confidence from play counts, ranking-based evaluation. Sparsity number is the headline.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evidence for the whole 'accuracy is not enough' thesis. Gini 0.893 and median 1 listener are the punch. A popularity recommender can score fine while ignoring 99% of the catalogue.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slide for the implementation grade. The point: a thin end-to-end slice first, then deepen. One fit/recommend interface makes methods interchangeable — which is what makes the comparison fair.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technical decision. Confidence formula from Hu/Koren/Volinsky. One shared split + one harness is the backbone of fairness — say this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only — one line each. Stress that all core logic is hand-implemented; libraries are for speed, not for the algorithm.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30%. Emphasise: same split, same harness, averaged over 5 random seeds with tiny std, so the rankings you'll see are stable, not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personalisation more than doubles the baseline; and the surprise — simple item-item CF beats the more complex ALS on this small, dense data. Sophistication isn't automatically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deck. No method wins every objective. Walk the three panels: item-CF best coverage, ALS leads diversity among accurate methods, content most novel but a filter bubble; popularity covers ~25 artists for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picture that summarises the whole study. Methods occupy different corners of the accuracy–diversity plane. Choosing one means choosing what you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slide. Popularity models have the highest bias and near-total exposure concentration. The caveat sells the credibility: even 'personalised' user-user CF leans on crowd-pleasers.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cost profiles, no universal winner. Memory-based CF trains instantly but stores a huge similarity matrix; ALS pays training cost once and serves from compact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centrepiece. Let it breathe — point to the bold cells. Item-CF owns accuracy and coverage; every other column has a different winner. This single table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Content-based earns its place here. Of 2,211 zero-play artists, only content can recommend them. The flip side — almost no cold users — is itself an honest dataset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Technical-implementation grade. Lead with the hardest: fairness machinery, and validating a hand-rolled ALS against a closed-form solution plus a synthetic two-cluster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20% / critical-thinking payoff. Separate what we FIXED from what inherently REMAINS. The timestamp point and the discovery point are the strongest honesty signals.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portfolio argument: there's no single winner, so ship a portfolio. Item-CF default, content for cold-start/novelty, social to widen coverage, popularity as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thesis sentence and stop.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4D5E">
                  <a:alpha val="13000"/>
                </a:srgbClr>
              </a:gs>
              <a:gs pos="62000">
                <a:srgbClr val="FF4D5E">
                  <a:alpha val="0"/>
                </a:srgbClr>
              </a:gs>
            </a:gsLst>
            <a:path path="circle">
              <a:fillToRect l="22000" t="26000" r="78000" b="74000"/>
            </a:path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46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RECOMMENDER SYSTEMS · ESADE MSC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90600" y="3061171"/>
            <a:ext cx="14716125" cy="27263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7200" b="1" spc="-144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Recommender: </a:t>
            </a:r>
            <a:pPr algn="l" indent="0" marL="0">
              <a:lnSpc>
                <a:spcPct val="98000"/>
              </a:lnSpc>
              <a:buNone/>
            </a:pPr>
            <a:r>
              <a:rPr lang="en-US" sz="7200" b="1" spc="-144" kern="0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Methods </a:t>
            </a:r>
            <a:pPr algn="l" indent="0" marL="0">
              <a:lnSpc>
                <a:spcPct val="98000"/>
              </a:lnSpc>
              <a:buNone/>
            </a:pPr>
            <a:r>
              <a:rPr lang="en-US" sz="7200" b="1" spc="-144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Honest Comparison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90600" y="6092354"/>
            <a:ext cx="1157668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Last.fm HetRec 2011 · implicit feedback · accuracy </a:t>
            </a:r>
            <a:pPr algn="l"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pPr algn="l"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beyond-accuracy, measured on one shared split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90600" y="9048750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90600" y="9305925"/>
            <a:ext cx="27158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Prof. Marc Torrens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42690" y="9305925"/>
            <a:ext cx="347018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Author ] · [ Date ]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PROBLEM &amp; THE DATA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feedback only — no stars, just plays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358804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5" name="Text 3"/>
          <p:cNvSpPr/>
          <p:nvPr/>
        </p:nvSpPr>
        <p:spPr>
          <a:xfrm>
            <a:off x="1392436" y="4354041"/>
            <a:ext cx="8043435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tell us what they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played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never what they disliked. Everything is built around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from play counts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6" name="Text 4"/>
          <p:cNvSpPr/>
          <p:nvPr/>
        </p:nvSpPr>
        <p:spPr>
          <a:xfrm>
            <a:off x="990600" y="5407298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2436" y="5402535"/>
            <a:ext cx="8043435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ratings to predict ⇒ the task is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rating prediction. Evaluation follows suit.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90600" y="6455792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392436" y="6451029"/>
            <a:ext cx="8043435" cy="829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available, used later: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11,946 artist tags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(186k assignments) and a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friendship graph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10" name="Shape 8"/>
          <p:cNvSpPr/>
          <p:nvPr/>
        </p:nvSpPr>
        <p:spPr>
          <a:xfrm>
            <a:off x="9868346" y="3878907"/>
            <a:ext cx="7429054" cy="3838575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877871" y="3888432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01721" y="4250382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1,892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0201721" y="5117157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3592398" y="3888432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916248" y="4250382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17,632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3916248" y="5117157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artists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9877871" y="5807720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201721" y="6169670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92,834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0201721" y="7036445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interactions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3592398" y="5807720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916248" y="6169670"/>
            <a:ext cx="3352554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99.72%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3916248" y="6936432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</a:t>
            </a:r>
            <a:endParaRPr lang="en-US" sz="18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KNOW YOUR DATA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is extremely concentrated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444627"/>
            <a:ext cx="7079434" cy="1049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85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0.893</a:t>
            </a:r>
            <a:endParaRPr lang="en-US" sz="8850" dirty="0"/>
          </a:p>
        </p:txBody>
      </p:sp>
      <p:sp>
        <p:nvSpPr>
          <p:cNvPr id="5" name="Text 3"/>
          <p:cNvSpPr/>
          <p:nvPr/>
        </p:nvSpPr>
        <p:spPr>
          <a:xfrm>
            <a:off x="990600" y="4494237"/>
            <a:ext cx="70794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Gini coefficient of plays across artists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990600" y="5127650"/>
            <a:ext cx="251460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43.7%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990600" y="5837262"/>
            <a:ext cx="236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plays go to the top 100 artists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752850" y="5127650"/>
            <a:ext cx="251460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0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050" dirty="0"/>
          </a:p>
        </p:txBody>
      </p:sp>
      <p:sp>
        <p:nvSpPr>
          <p:cNvPr id="9" name="Text 7"/>
          <p:cNvSpPr/>
          <p:nvPr/>
        </p:nvSpPr>
        <p:spPr>
          <a:xfrm>
            <a:off x="3752850" y="5837262"/>
            <a:ext cx="236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 for the median artist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90600" y="6780237"/>
            <a:ext cx="19050" cy="133350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19200" y="6780237"/>
            <a:ext cx="487299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behind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"accuracy is not enough"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 popularity model can score acceptably while ignoring ~99% of the catalogue.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8036049" y="3135437"/>
            <a:ext cx="9261277" cy="5287417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9424" y="3430712"/>
            <a:ext cx="8594527" cy="412536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369424" y="7613228"/>
            <a:ext cx="8852362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Long-tail distribution (log-scaled plays). Raw play counts span orders of magnitude — confidence weighting is justified.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APPROACH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Agile: a thin slice first, then depth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662065"/>
            <a:ext cx="12950190" cy="1233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slice —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→ popularity → one screen → one metric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then deepen one module at a time. Every method sits behind a single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/ recommend </a:t>
            </a:r>
            <a:pPr algn="l" indent="0" marL="0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interface, so they are interchangeable.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990600" y="5238750"/>
            <a:ext cx="16306800" cy="152876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00125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90625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190625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prototype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3329657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20157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3520157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&amp; preprocessing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5659189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9689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5849689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 baseline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7988722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79222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179222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Collaborative filtering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0318254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508754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508754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2647786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2838286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12838286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factorisation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977318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5167818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15167818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990600" y="7148513"/>
            <a:ext cx="6477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</a:t>
            </a:r>
            <a:endParaRPr lang="en-US" sz="3750" dirty="0"/>
          </a:p>
        </p:txBody>
      </p:sp>
      <p:sp>
        <p:nvSpPr>
          <p:cNvPr id="28" name="Text 26"/>
          <p:cNvSpPr/>
          <p:nvPr/>
        </p:nvSpPr>
        <p:spPr>
          <a:xfrm>
            <a:off x="1695450" y="7391400"/>
            <a:ext cx="7905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2943225" y="7148513"/>
            <a:ext cx="933599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95%</a:t>
            </a:r>
            <a:endParaRPr lang="en-US" sz="3750" dirty="0"/>
          </a:p>
        </p:txBody>
      </p:sp>
      <p:sp>
        <p:nvSpPr>
          <p:cNvPr id="30" name="Text 28"/>
          <p:cNvSpPr/>
          <p:nvPr/>
        </p:nvSpPr>
        <p:spPr>
          <a:xfrm>
            <a:off x="3933974" y="7300913"/>
            <a:ext cx="1219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5610374" y="7148513"/>
            <a:ext cx="36195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7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750" dirty="0"/>
          </a:p>
        </p:txBody>
      </p:sp>
      <p:sp>
        <p:nvSpPr>
          <p:cNvPr id="32" name="Text 30"/>
          <p:cNvSpPr/>
          <p:nvPr/>
        </p:nvSpPr>
        <p:spPr>
          <a:xfrm>
            <a:off x="6029474" y="7391400"/>
            <a:ext cx="66008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src/recsys package, Flask prototype</a:t>
            </a:r>
            <a:endParaRPr lang="en-US" sz="18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IMPLICIT-FEEDBACK 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become confidence, not ratings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4247629"/>
            <a:ext cx="7848600" cy="1985963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362075" y="4581004"/>
            <a:ext cx="7816215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pPr algn="l" indent="0" marL="0">
              <a:buNone/>
            </a:pPr>
            <a:r>
              <a:rPr lang="en-US" sz="34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 + α · log(1 + plays)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362075" y="5281092"/>
            <a:ext cx="731882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Hu, Koren &amp; Volinsky (2008). Log-scaling stops a few superfans dominating.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6519342"/>
            <a:ext cx="8084058" cy="829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"dislikes"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 absent artist is unknown, not negative. Confidence weighting is how we encode that.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448800" y="4551908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9850636" y="4547146"/>
            <a:ext cx="7670167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leave-out split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every test user is also in training.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448800" y="5581352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9850636" y="5576590"/>
            <a:ext cx="7335396" cy="443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train/test split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by every method.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9448800" y="6215137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3" name="Text 11"/>
          <p:cNvSpPr/>
          <p:nvPr/>
        </p:nvSpPr>
        <p:spPr>
          <a:xfrm>
            <a:off x="9850636" y="6210374"/>
            <a:ext cx="7670167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</a:t>
            </a:r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harness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backbone of a fair comparison.</a:t>
            </a:r>
            <a:endParaRPr lang="en-US" sz="23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THE EIGHT METHODS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families, one shared interface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10587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43025" y="2214339"/>
            <a:ext cx="12692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2745656" y="2214339"/>
            <a:ext cx="6227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/ listeners / damped — the non-personalised floor (3 variants).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153525" y="19666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496425" y="2214339"/>
            <a:ext cx="163465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1264429" y="2214339"/>
            <a:ext cx="58509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Artists co-listened with yours — hand-rolled sparse cosine.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1000125" y="43352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343025" y="4582939"/>
            <a:ext cx="1885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3267075" y="4582939"/>
            <a:ext cx="524955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Artists from users with similar taste to yours.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153525" y="43352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96425" y="4582939"/>
            <a:ext cx="9989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0628709" y="4582939"/>
            <a:ext cx="650575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over artist tags; matches your profile; handles cold-start.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000125" y="6703888"/>
            <a:ext cx="8134350" cy="2349624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43025" y="6951538"/>
            <a:ext cx="106129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2537668" y="6951538"/>
            <a:ext cx="644152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Hand-implemented Hu/Koren/Volinsky — learns latent taste factors.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153525" y="6703888"/>
            <a:ext cx="8134350" cy="2349624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96425" y="6951538"/>
            <a:ext cx="9906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0620375" y="6951538"/>
            <a:ext cx="60463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friends listen to, via the friendship graph.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990600" y="929163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core logic hand-implemented · numpy / scipy / sklearn used only for speed.</a:t>
            </a:r>
            <a:endParaRPr lang="en-US" sz="18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HOW WE EVALUATE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metric families, five random splits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10587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5416525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62075" y="2347689"/>
            <a:ext cx="516188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2075" y="2852514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Precision@10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362075" y="3371627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Recall@10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362075" y="3890739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MAP@10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1362075" y="4409852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2325" dirty="0"/>
          </a:p>
        </p:txBody>
      </p:sp>
      <p:sp>
        <p:nvSpPr>
          <p:cNvPr id="11" name="Shape 9"/>
          <p:cNvSpPr/>
          <p:nvPr/>
        </p:nvSpPr>
        <p:spPr>
          <a:xfrm>
            <a:off x="6435700" y="1966689"/>
            <a:ext cx="5416525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797650" y="2347689"/>
            <a:ext cx="516188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BEYOND-ACCURACY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97650" y="2852514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coverage</a:t>
            </a:r>
            <a:endParaRPr lang="en-US" sz="2325" dirty="0"/>
          </a:p>
        </p:txBody>
      </p:sp>
      <p:sp>
        <p:nvSpPr>
          <p:cNvPr id="14" name="Text 12"/>
          <p:cNvSpPr/>
          <p:nvPr/>
        </p:nvSpPr>
        <p:spPr>
          <a:xfrm>
            <a:off x="6797650" y="3371627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Intra-list diversity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6797650" y="3890739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6797650" y="4409852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Popularity bias </a:t>
            </a:r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exposure Gini)</a:t>
            </a:r>
            <a:endParaRPr lang="en-US" sz="2325" dirty="0"/>
          </a:p>
        </p:txBody>
      </p:sp>
      <p:sp>
        <p:nvSpPr>
          <p:cNvPr id="17" name="Shape 15"/>
          <p:cNvSpPr/>
          <p:nvPr/>
        </p:nvSpPr>
        <p:spPr>
          <a:xfrm>
            <a:off x="11871275" y="1966689"/>
            <a:ext cx="5416600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233225" y="2347689"/>
            <a:ext cx="51619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233225" y="2852514"/>
            <a:ext cx="516197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12233225" y="3371627"/>
            <a:ext cx="516197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latency</a:t>
            </a:r>
            <a:endParaRPr lang="en-US" sz="2325" dirty="0"/>
          </a:p>
        </p:txBody>
      </p:sp>
      <p:sp>
        <p:nvSpPr>
          <p:cNvPr id="21" name="Text 19"/>
          <p:cNvSpPr/>
          <p:nvPr/>
        </p:nvSpPr>
        <p:spPr>
          <a:xfrm>
            <a:off x="990600" y="929163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result averaged over </a:t>
            </a:r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random splits </a:t>
            </a:r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std 0.001–0.003 ⇒ rankings are stable.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RESULTS — ACCURACY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more than doubles the baseline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5669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3086100" y="3559820"/>
            <a:ext cx="5679430" cy="3238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694069" y="35669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0.177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0.220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40336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3086100" y="4026545"/>
            <a:ext cx="4299645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94069" y="40336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0.134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0.150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90600" y="45004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3086100" y="4493270"/>
            <a:ext cx="4203427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694069" y="45004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0.131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0.162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4967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3086100" y="4959995"/>
            <a:ext cx="3946699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694069" y="4967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0.123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0.153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54338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3086100" y="5426720"/>
            <a:ext cx="3208734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694069" y="54338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0.100 </a:t>
            </a:r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0.117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5893445"/>
            <a:ext cx="1981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3086100" y="6041082"/>
            <a:ext cx="2278187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94069" y="604822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0.071 · 0.082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90600" y="66625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086100" y="6655445"/>
            <a:ext cx="1957313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694069" y="66625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0.061 · 0.066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1293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3086100" y="7122170"/>
            <a:ext cx="1443930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694069" y="71293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0.045 · 0.046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0600" y="7646045"/>
            <a:ext cx="1166931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= Precision@10 · second number = NDCG@10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189619" y="4230886"/>
            <a:ext cx="5618559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630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2.5×</a:t>
            </a:r>
            <a:endParaRPr lang="en-US" sz="6300" dirty="0"/>
          </a:p>
        </p:txBody>
      </p:sp>
      <p:sp>
        <p:nvSpPr>
          <p:cNvPr id="30" name="Text 28"/>
          <p:cNvSpPr/>
          <p:nvPr/>
        </p:nvSpPr>
        <p:spPr>
          <a:xfrm>
            <a:off x="12189619" y="5008066"/>
            <a:ext cx="5261015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CF Precision@10 vs the best popularity baseline (0.177 → 0.071).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2189619" y="5936754"/>
            <a:ext cx="19050" cy="133350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418219" y="5936754"/>
            <a:ext cx="5032415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surprise: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item–item CF beats the more complex ALS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small, dense dataset. Sophistication is not automatically better.</a:t>
            </a:r>
            <a:endParaRPr lang="en-US" sz="18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BEYOND ACCURACY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method wins every objective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2342927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90600" y="1919064"/>
            <a:ext cx="28289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Catalogue coverage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4526235" y="1928589"/>
            <a:ext cx="18105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 wins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252390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43100" y="2733452"/>
            <a:ext cx="3519562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619750" y="267153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.158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0600" y="32382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943100" y="3300189"/>
            <a:ext cx="3227487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619750" y="32382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.145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0600" y="36573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943100" y="3719289"/>
            <a:ext cx="3184699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619750" y="36573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.143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0600" y="40764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943100" y="4138389"/>
            <a:ext cx="2272754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619750" y="40764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.102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0600" y="4495577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943100" y="4705127"/>
            <a:ext cx="423863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19750" y="46432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.019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0600" y="520995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943100" y="5271864"/>
            <a:ext cx="46286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619750" y="520995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~.001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06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 serves the same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 artists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all 1,884 users.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53200" y="2652489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553200" y="1919064"/>
            <a:ext cx="286320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Intra-list diversity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333012" y="1928589"/>
            <a:ext cx="2477988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leads accurate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53200" y="283346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505700" y="2895377"/>
            <a:ext cx="3323630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1182350" y="283346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.746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553200" y="325256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505700" y="3314477"/>
            <a:ext cx="3170486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1182350" y="325256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.712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553200" y="3671664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505700" y="3881214"/>
            <a:ext cx="2760762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82350" y="38193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.620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553200" y="4386039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7505700" y="4595589"/>
            <a:ext cx="2742977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1182350" y="45336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.616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553200" y="510041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505700" y="5162327"/>
            <a:ext cx="3134841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1182350" y="51004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~.70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553200" y="551951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505700" y="5581427"/>
            <a:ext cx="1499741" cy="17145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1182350" y="55195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.337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5532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 is the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 bubble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least diverse by far.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2115800" y="2342927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2115800" y="1919064"/>
            <a:ext cx="10763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875" dirty="0"/>
          </a:p>
        </p:txBody>
      </p:sp>
      <p:sp>
        <p:nvSpPr>
          <p:cNvPr id="50" name="Text 48"/>
          <p:cNvSpPr/>
          <p:nvPr/>
        </p:nvSpPr>
        <p:spPr>
          <a:xfrm>
            <a:off x="15651435" y="1928589"/>
            <a:ext cx="18105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 wins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2115800" y="25239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13068300" y="2585814"/>
            <a:ext cx="3352130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6744950" y="25239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6.59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2115800" y="29430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3068300" y="3004914"/>
            <a:ext cx="2504331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6744950" y="29430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4.92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2115800" y="33621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3068300" y="3424014"/>
            <a:ext cx="2461543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744950" y="33621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4.84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12115800" y="378120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3068300" y="3990752"/>
            <a:ext cx="2418829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6744950" y="392883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4.75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12115800" y="4495577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Pop-damp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3068300" y="4705127"/>
            <a:ext cx="1709886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16744950" y="46432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3.36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2115800" y="520995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Pop-list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3068300" y="5419502"/>
            <a:ext cx="1246808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16744950" y="535758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2.45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121158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Tag-based recommendation surfaces the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least-known </a:t>
            </a:r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artists.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THE CORE TRADE-OFF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 method is choosing what you value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2367707"/>
            <a:ext cx="11041335" cy="6746677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85875" y="2605832"/>
            <a:ext cx="10450785" cy="6270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565335" y="4336107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7" name="Text 4"/>
          <p:cNvSpPr/>
          <p:nvPr/>
        </p:nvSpPr>
        <p:spPr>
          <a:xfrm>
            <a:off x="12948121" y="4393257"/>
            <a:ext cx="4155884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Item-CF 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alone at high accuracy.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2565335" y="4969520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6"/>
          <p:cNvSpPr/>
          <p:nvPr/>
        </p:nvSpPr>
        <p:spPr>
          <a:xfrm>
            <a:off x="12948121" y="5026670"/>
            <a:ext cx="44796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&amp; popularity 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accuracy for diversity, top-left.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12565335" y="5922020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1" name="Text 8"/>
          <p:cNvSpPr/>
          <p:nvPr/>
        </p:nvSpPr>
        <p:spPr>
          <a:xfrm>
            <a:off x="12948121" y="5979170"/>
            <a:ext cx="45439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diversity outlier, bottom.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12565335" y="6555432"/>
            <a:ext cx="4873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NDCG@10 · y = intra-list diversity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POPULARITY BIAS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gets exposure — and who never does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571726"/>
            <a:ext cx="1981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3086100" y="3738414"/>
            <a:ext cx="7179915" cy="2857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456515" y="3726507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0.186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4343251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3086100" y="4355157"/>
            <a:ext cx="6368579" cy="285750"/>
          </a:xfrm>
          <a:prstGeom prst="rect">
            <a:avLst/>
          </a:prstGeom>
          <a:solidFill>
            <a:srgbClr val="FF4D5E">
              <a:alpha val="88000"/>
            </a:srgbClr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456515" y="434325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0.165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90600" y="48052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3086100" y="4817120"/>
            <a:ext cx="5406405" cy="285750"/>
          </a:xfrm>
          <a:prstGeom prst="rect">
            <a:avLst/>
          </a:prstGeom>
          <a:solidFill>
            <a:srgbClr val="FF4D5E">
              <a:alpha val="74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56515" y="480521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0.140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526717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3086100" y="5279082"/>
            <a:ext cx="4631010" cy="285750"/>
          </a:xfrm>
          <a:prstGeom prst="rect">
            <a:avLst/>
          </a:prstGeom>
          <a:solidFill>
            <a:srgbClr val="FF4D5E">
              <a:alpha val="62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456515" y="526717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0.120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5729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3086100" y="5741045"/>
            <a:ext cx="3245272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456515" y="572913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0.084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6191101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3086100" y="6203007"/>
            <a:ext cx="3008337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456515" y="61911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0.078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90600" y="66530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086100" y="6664970"/>
            <a:ext cx="2046238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456515" y="665306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0.053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11502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3086100" y="7126932"/>
            <a:ext cx="1313855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56515" y="711502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0.034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0600" y="7634139"/>
            <a:ext cx="1125070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= mean popularity of recommended artists (lower = less biased)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790015" y="4518943"/>
            <a:ext cx="5672530" cy="12346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 </a:t>
            </a:r>
            <a:pPr algn="l" indent="0" marL="0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least biased (0.034); popularity concentrates exposure on near-total winners.</a:t>
            </a:r>
            <a:endParaRPr lang="en-US" sz="2325" dirty="0"/>
          </a:p>
        </p:txBody>
      </p:sp>
      <p:sp>
        <p:nvSpPr>
          <p:cNvPr id="30" name="Shape 28"/>
          <p:cNvSpPr/>
          <p:nvPr/>
        </p:nvSpPr>
        <p:spPr>
          <a:xfrm>
            <a:off x="11790015" y="5982146"/>
            <a:ext cx="19050" cy="1000125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018615" y="5982146"/>
            <a:ext cx="544393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caveat: even "personalised"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user–user CF leans on crowd-pleasers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(0.140) — personalisation alone does not fix bias.</a:t>
            </a:r>
            <a:endParaRPr lang="en-US" sz="18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SCALABILITY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cost profiles, no universal winner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219426"/>
            <a:ext cx="992841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time (seconds)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990600" y="4681389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2781300" y="4683770"/>
            <a:ext cx="6301680" cy="30480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54430" y="468138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5143351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2781300" y="5145732"/>
            <a:ext cx="37802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54430" y="514335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90600" y="5605314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2781300" y="5607695"/>
            <a:ext cx="31477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54430" y="560531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990600" y="6067276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2781300" y="6069657"/>
            <a:ext cx="31477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54430" y="606727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990600" y="6529239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2781300" y="6531620"/>
            <a:ext cx="28575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54430" y="652923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90600" y="6991201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2781300" y="6993582"/>
            <a:ext cx="28575" cy="30480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54430" y="69912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626030" y="4121795"/>
            <a:ext cx="6671370" cy="3276600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0635555" y="4131320"/>
            <a:ext cx="6652320" cy="16192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959405" y="4417070"/>
            <a:ext cx="66050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Memory-based CF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10959405" y="4821882"/>
            <a:ext cx="6184758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Trains in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~0.02s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but stores a full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17,632²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similarity matrix.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0635555" y="5769620"/>
            <a:ext cx="6652320" cy="16192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959405" y="6055370"/>
            <a:ext cx="66050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0959405" y="6460182"/>
            <a:ext cx="6184758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~6.3s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training, then serves in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~0.2ms </a:t>
            </a:r>
            <a:pPr algn="l" indent="0" marL="0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compact factor matrices.</a:t>
            </a:r>
            <a:endParaRPr lang="en-US" sz="18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00994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· FULL COMPARISON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190625"/>
            <a:ext cx="1009941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method, every axis, one table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1536635" y="1509489"/>
            <a:ext cx="6336841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10 · mean over 5 splits · ~1,884 users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90600" y="3362176"/>
            <a:ext cx="16306800" cy="1905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3000" y="2890689"/>
            <a:ext cx="37133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967883" y="2890689"/>
            <a:ext cx="12853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P@10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6481837" y="2890689"/>
            <a:ext cx="12853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NDCG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7995791" y="2890689"/>
            <a:ext cx="1807666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0032057" y="2890689"/>
            <a:ext cx="200858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Diversity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12269242" y="2890689"/>
            <a:ext cx="160667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14104516" y="2890689"/>
            <a:ext cx="160667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PopBias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5939790" y="2890689"/>
            <a:ext cx="120521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90600" y="40241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143000" y="3533626"/>
            <a:ext cx="371331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4891683" y="3381226"/>
            <a:ext cx="1513954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67883" y="3533626"/>
            <a:ext cx="128535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0.177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6405637" y="3381226"/>
            <a:ext cx="1513954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81837" y="3533626"/>
            <a:ext cx="128535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0.220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7919591" y="3381226"/>
            <a:ext cx="2036266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995791" y="3533626"/>
            <a:ext cx="180766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0.158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0032057" y="3533626"/>
            <a:ext cx="200858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0.616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2269242" y="3533626"/>
            <a:ext cx="160667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4.75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14104516" y="3533626"/>
            <a:ext cx="160667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0.084</a:t>
            </a:r>
            <a:endParaRPr lang="en-US" sz="2025" dirty="0"/>
          </a:p>
        </p:txBody>
      </p:sp>
      <p:sp>
        <p:nvSpPr>
          <p:cNvPr id="25" name="Text 23"/>
          <p:cNvSpPr/>
          <p:nvPr/>
        </p:nvSpPr>
        <p:spPr>
          <a:xfrm>
            <a:off x="15939790" y="3533626"/>
            <a:ext cx="120521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990600" y="46718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43000" y="41860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4967883" y="41860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0.134</a:t>
            </a:r>
            <a:endParaRPr lang="en-US" sz="2025" dirty="0"/>
          </a:p>
        </p:txBody>
      </p:sp>
      <p:sp>
        <p:nvSpPr>
          <p:cNvPr id="29" name="Text 27"/>
          <p:cNvSpPr/>
          <p:nvPr/>
        </p:nvSpPr>
        <p:spPr>
          <a:xfrm>
            <a:off x="6481837" y="41860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0.150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7995791" y="41860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0.102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0032057" y="41860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0.746</a:t>
            </a:r>
            <a:endParaRPr lang="en-US" sz="2025" dirty="0"/>
          </a:p>
        </p:txBody>
      </p:sp>
      <p:sp>
        <p:nvSpPr>
          <p:cNvPr id="32" name="Text 30"/>
          <p:cNvSpPr/>
          <p:nvPr/>
        </p:nvSpPr>
        <p:spPr>
          <a:xfrm>
            <a:off x="12269242" y="41860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4.92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14104516" y="41860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0.053</a:t>
            </a:r>
            <a:endParaRPr lang="en-US" sz="2025" dirty="0"/>
          </a:p>
        </p:txBody>
      </p:sp>
      <p:sp>
        <p:nvSpPr>
          <p:cNvPr id="34" name="Text 32"/>
          <p:cNvSpPr/>
          <p:nvPr/>
        </p:nvSpPr>
        <p:spPr>
          <a:xfrm>
            <a:off x="15939790" y="41860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2025" dirty="0"/>
          </a:p>
        </p:txBody>
      </p:sp>
      <p:sp>
        <p:nvSpPr>
          <p:cNvPr id="35" name="Shape 33"/>
          <p:cNvSpPr/>
          <p:nvPr/>
        </p:nvSpPr>
        <p:spPr>
          <a:xfrm>
            <a:off x="990600" y="53195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143000" y="48337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2025" dirty="0"/>
          </a:p>
        </p:txBody>
      </p:sp>
      <p:sp>
        <p:nvSpPr>
          <p:cNvPr id="37" name="Text 35"/>
          <p:cNvSpPr/>
          <p:nvPr/>
        </p:nvSpPr>
        <p:spPr>
          <a:xfrm>
            <a:off x="4967883" y="48337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0.131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6481837" y="48337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0.162</a:t>
            </a:r>
            <a:endParaRPr lang="en-US" sz="2025" dirty="0"/>
          </a:p>
        </p:txBody>
      </p:sp>
      <p:sp>
        <p:nvSpPr>
          <p:cNvPr id="39" name="Text 37"/>
          <p:cNvSpPr/>
          <p:nvPr/>
        </p:nvSpPr>
        <p:spPr>
          <a:xfrm>
            <a:off x="7995791" y="48337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0.019</a:t>
            </a:r>
            <a:endParaRPr lang="en-US" sz="2025" dirty="0"/>
          </a:p>
        </p:txBody>
      </p:sp>
      <p:sp>
        <p:nvSpPr>
          <p:cNvPr id="40" name="Text 38"/>
          <p:cNvSpPr/>
          <p:nvPr/>
        </p:nvSpPr>
        <p:spPr>
          <a:xfrm>
            <a:off x="10032057" y="48337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0.620</a:t>
            </a:r>
            <a:endParaRPr lang="en-US" sz="2025" dirty="0"/>
          </a:p>
        </p:txBody>
      </p:sp>
      <p:sp>
        <p:nvSpPr>
          <p:cNvPr id="41" name="Text 39"/>
          <p:cNvSpPr/>
          <p:nvPr/>
        </p:nvSpPr>
        <p:spPr>
          <a:xfrm>
            <a:off x="12269242" y="48337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2.98</a:t>
            </a:r>
            <a:endParaRPr lang="en-US" sz="2025" dirty="0"/>
          </a:p>
        </p:txBody>
      </p:sp>
      <p:sp>
        <p:nvSpPr>
          <p:cNvPr id="42" name="Text 40"/>
          <p:cNvSpPr/>
          <p:nvPr/>
        </p:nvSpPr>
        <p:spPr>
          <a:xfrm>
            <a:off x="14104516" y="48337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0.140</a:t>
            </a:r>
            <a:endParaRPr lang="en-US" sz="2025" dirty="0"/>
          </a:p>
        </p:txBody>
      </p:sp>
      <p:sp>
        <p:nvSpPr>
          <p:cNvPr id="43" name="Text 41"/>
          <p:cNvSpPr/>
          <p:nvPr/>
        </p:nvSpPr>
        <p:spPr>
          <a:xfrm>
            <a:off x="15939790" y="48337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2025" dirty="0"/>
          </a:p>
        </p:txBody>
      </p:sp>
      <p:sp>
        <p:nvSpPr>
          <p:cNvPr id="44" name="Shape 42"/>
          <p:cNvSpPr/>
          <p:nvPr/>
        </p:nvSpPr>
        <p:spPr>
          <a:xfrm>
            <a:off x="990600" y="59672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1143000" y="54814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 (friends)</a:t>
            </a:r>
            <a:endParaRPr lang="en-US" sz="2025" dirty="0"/>
          </a:p>
        </p:txBody>
      </p:sp>
      <p:sp>
        <p:nvSpPr>
          <p:cNvPr id="46" name="Text 44"/>
          <p:cNvSpPr/>
          <p:nvPr/>
        </p:nvSpPr>
        <p:spPr>
          <a:xfrm>
            <a:off x="4967883" y="54814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0.123</a:t>
            </a:r>
            <a:endParaRPr lang="en-US" sz="2025" dirty="0"/>
          </a:p>
        </p:txBody>
      </p:sp>
      <p:sp>
        <p:nvSpPr>
          <p:cNvPr id="47" name="Text 45"/>
          <p:cNvSpPr/>
          <p:nvPr/>
        </p:nvSpPr>
        <p:spPr>
          <a:xfrm>
            <a:off x="6481837" y="54814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0.153</a:t>
            </a:r>
            <a:endParaRPr lang="en-US" sz="2025" dirty="0"/>
          </a:p>
        </p:txBody>
      </p:sp>
      <p:sp>
        <p:nvSpPr>
          <p:cNvPr id="48" name="Text 46"/>
          <p:cNvSpPr/>
          <p:nvPr/>
        </p:nvSpPr>
        <p:spPr>
          <a:xfrm>
            <a:off x="7995791" y="54814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0.143</a:t>
            </a:r>
            <a:endParaRPr lang="en-US" sz="2025" dirty="0"/>
          </a:p>
        </p:txBody>
      </p:sp>
      <p:sp>
        <p:nvSpPr>
          <p:cNvPr id="49" name="Text 47"/>
          <p:cNvSpPr/>
          <p:nvPr/>
        </p:nvSpPr>
        <p:spPr>
          <a:xfrm>
            <a:off x="10032057" y="54814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0.712</a:t>
            </a:r>
            <a:endParaRPr lang="en-US" sz="2025" dirty="0"/>
          </a:p>
        </p:txBody>
      </p:sp>
      <p:sp>
        <p:nvSpPr>
          <p:cNvPr id="50" name="Text 48"/>
          <p:cNvSpPr/>
          <p:nvPr/>
        </p:nvSpPr>
        <p:spPr>
          <a:xfrm>
            <a:off x="12269242" y="54814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4.84</a:t>
            </a:r>
            <a:endParaRPr lang="en-US" sz="2025" dirty="0"/>
          </a:p>
        </p:txBody>
      </p:sp>
      <p:sp>
        <p:nvSpPr>
          <p:cNvPr id="51" name="Text 49"/>
          <p:cNvSpPr/>
          <p:nvPr/>
        </p:nvSpPr>
        <p:spPr>
          <a:xfrm>
            <a:off x="14104516" y="54814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0.078</a:t>
            </a:r>
            <a:endParaRPr lang="en-US" sz="2025" dirty="0"/>
          </a:p>
        </p:txBody>
      </p:sp>
      <p:sp>
        <p:nvSpPr>
          <p:cNvPr id="52" name="Text 50"/>
          <p:cNvSpPr/>
          <p:nvPr/>
        </p:nvSpPr>
        <p:spPr>
          <a:xfrm>
            <a:off x="15939790" y="54814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2025" dirty="0"/>
          </a:p>
        </p:txBody>
      </p:sp>
      <p:sp>
        <p:nvSpPr>
          <p:cNvPr id="53" name="Shape 51"/>
          <p:cNvSpPr/>
          <p:nvPr/>
        </p:nvSpPr>
        <p:spPr>
          <a:xfrm>
            <a:off x="990600" y="66149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1143000" y="61291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2025" dirty="0"/>
          </a:p>
        </p:txBody>
      </p:sp>
      <p:sp>
        <p:nvSpPr>
          <p:cNvPr id="55" name="Text 53"/>
          <p:cNvSpPr/>
          <p:nvPr/>
        </p:nvSpPr>
        <p:spPr>
          <a:xfrm>
            <a:off x="4967883" y="61291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0.100</a:t>
            </a:r>
            <a:endParaRPr lang="en-US" sz="2025" dirty="0"/>
          </a:p>
        </p:txBody>
      </p:sp>
      <p:sp>
        <p:nvSpPr>
          <p:cNvPr id="56" name="Text 54"/>
          <p:cNvSpPr/>
          <p:nvPr/>
        </p:nvSpPr>
        <p:spPr>
          <a:xfrm>
            <a:off x="6481837" y="61291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0.117</a:t>
            </a:r>
            <a:endParaRPr lang="en-US" sz="2025" dirty="0"/>
          </a:p>
        </p:txBody>
      </p:sp>
      <p:sp>
        <p:nvSpPr>
          <p:cNvPr id="57" name="Text 55"/>
          <p:cNvSpPr/>
          <p:nvPr/>
        </p:nvSpPr>
        <p:spPr>
          <a:xfrm>
            <a:off x="7995791" y="61291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0.145</a:t>
            </a:r>
            <a:endParaRPr lang="en-US" sz="2025" dirty="0"/>
          </a:p>
        </p:txBody>
      </p:sp>
      <p:sp>
        <p:nvSpPr>
          <p:cNvPr id="58" name="Text 56"/>
          <p:cNvSpPr/>
          <p:nvPr/>
        </p:nvSpPr>
        <p:spPr>
          <a:xfrm>
            <a:off x="10032057" y="61291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0.337</a:t>
            </a:r>
            <a:endParaRPr lang="en-US" sz="2025" dirty="0"/>
          </a:p>
        </p:txBody>
      </p:sp>
      <p:sp>
        <p:nvSpPr>
          <p:cNvPr id="59" name="Shape 57"/>
          <p:cNvSpPr/>
          <p:nvPr/>
        </p:nvSpPr>
        <p:spPr>
          <a:xfrm>
            <a:off x="12193042" y="5976789"/>
            <a:ext cx="1835274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12269242" y="61291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6.59</a:t>
            </a:r>
            <a:endParaRPr lang="en-US" sz="2025" dirty="0"/>
          </a:p>
        </p:txBody>
      </p:sp>
      <p:sp>
        <p:nvSpPr>
          <p:cNvPr id="61" name="Shape 59"/>
          <p:cNvSpPr/>
          <p:nvPr/>
        </p:nvSpPr>
        <p:spPr>
          <a:xfrm>
            <a:off x="14028316" y="5976789"/>
            <a:ext cx="1835274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4104516" y="61291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0.034</a:t>
            </a:r>
            <a:endParaRPr lang="en-US" sz="2025" dirty="0"/>
          </a:p>
        </p:txBody>
      </p:sp>
      <p:sp>
        <p:nvSpPr>
          <p:cNvPr id="63" name="Text 61"/>
          <p:cNvSpPr/>
          <p:nvPr/>
        </p:nvSpPr>
        <p:spPr>
          <a:xfrm>
            <a:off x="15939790" y="61291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</a:t>
            </a:r>
            <a:endParaRPr lang="en-US" sz="2025" dirty="0"/>
          </a:p>
        </p:txBody>
      </p:sp>
      <p:sp>
        <p:nvSpPr>
          <p:cNvPr id="64" name="Shape 62"/>
          <p:cNvSpPr/>
          <p:nvPr/>
        </p:nvSpPr>
        <p:spPr>
          <a:xfrm>
            <a:off x="990600" y="72626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1143000" y="67768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2025" dirty="0"/>
          </a:p>
        </p:txBody>
      </p:sp>
      <p:sp>
        <p:nvSpPr>
          <p:cNvPr id="66" name="Text 64"/>
          <p:cNvSpPr/>
          <p:nvPr/>
        </p:nvSpPr>
        <p:spPr>
          <a:xfrm>
            <a:off x="4967883" y="67768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0.071</a:t>
            </a:r>
            <a:endParaRPr lang="en-US" sz="2025" dirty="0"/>
          </a:p>
        </p:txBody>
      </p:sp>
      <p:sp>
        <p:nvSpPr>
          <p:cNvPr id="67" name="Text 65"/>
          <p:cNvSpPr/>
          <p:nvPr/>
        </p:nvSpPr>
        <p:spPr>
          <a:xfrm>
            <a:off x="6481837" y="67768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0.082</a:t>
            </a:r>
            <a:endParaRPr lang="en-US" sz="2025" dirty="0"/>
          </a:p>
        </p:txBody>
      </p:sp>
      <p:sp>
        <p:nvSpPr>
          <p:cNvPr id="68" name="Text 66"/>
          <p:cNvSpPr/>
          <p:nvPr/>
        </p:nvSpPr>
        <p:spPr>
          <a:xfrm>
            <a:off x="7995791" y="67768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0.002</a:t>
            </a:r>
            <a:endParaRPr lang="en-US" sz="2025" dirty="0"/>
          </a:p>
        </p:txBody>
      </p:sp>
      <p:sp>
        <p:nvSpPr>
          <p:cNvPr id="69" name="Text 67"/>
          <p:cNvSpPr/>
          <p:nvPr/>
        </p:nvSpPr>
        <p:spPr>
          <a:xfrm>
            <a:off x="10032057" y="67768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0.632</a:t>
            </a:r>
            <a:endParaRPr lang="en-US" sz="2025" dirty="0"/>
          </a:p>
        </p:txBody>
      </p:sp>
      <p:sp>
        <p:nvSpPr>
          <p:cNvPr id="70" name="Text 68"/>
          <p:cNvSpPr/>
          <p:nvPr/>
        </p:nvSpPr>
        <p:spPr>
          <a:xfrm>
            <a:off x="12269242" y="67768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2.45</a:t>
            </a:r>
            <a:endParaRPr lang="en-US" sz="2025" dirty="0"/>
          </a:p>
        </p:txBody>
      </p:sp>
      <p:sp>
        <p:nvSpPr>
          <p:cNvPr id="71" name="Text 69"/>
          <p:cNvSpPr/>
          <p:nvPr/>
        </p:nvSpPr>
        <p:spPr>
          <a:xfrm>
            <a:off x="14104516" y="67768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0.186</a:t>
            </a:r>
            <a:endParaRPr lang="en-US" sz="2025" dirty="0"/>
          </a:p>
        </p:txBody>
      </p:sp>
      <p:sp>
        <p:nvSpPr>
          <p:cNvPr id="72" name="Shape 70"/>
          <p:cNvSpPr/>
          <p:nvPr/>
        </p:nvSpPr>
        <p:spPr>
          <a:xfrm>
            <a:off x="15863590" y="6624489"/>
            <a:ext cx="1433810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15939790" y="67768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74" name="Shape 72"/>
          <p:cNvSpPr/>
          <p:nvPr/>
        </p:nvSpPr>
        <p:spPr>
          <a:xfrm>
            <a:off x="990600" y="79103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1143000" y="74245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2025" dirty="0"/>
          </a:p>
        </p:txBody>
      </p:sp>
      <p:sp>
        <p:nvSpPr>
          <p:cNvPr id="76" name="Text 74"/>
          <p:cNvSpPr/>
          <p:nvPr/>
        </p:nvSpPr>
        <p:spPr>
          <a:xfrm>
            <a:off x="4967883" y="74245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0.061</a:t>
            </a:r>
            <a:endParaRPr lang="en-US" sz="2025" dirty="0"/>
          </a:p>
        </p:txBody>
      </p:sp>
      <p:sp>
        <p:nvSpPr>
          <p:cNvPr id="77" name="Text 75"/>
          <p:cNvSpPr/>
          <p:nvPr/>
        </p:nvSpPr>
        <p:spPr>
          <a:xfrm>
            <a:off x="6481837" y="74245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0.066</a:t>
            </a:r>
            <a:endParaRPr lang="en-US" sz="2025" dirty="0"/>
          </a:p>
        </p:txBody>
      </p:sp>
      <p:sp>
        <p:nvSpPr>
          <p:cNvPr id="78" name="Text 76"/>
          <p:cNvSpPr/>
          <p:nvPr/>
        </p:nvSpPr>
        <p:spPr>
          <a:xfrm>
            <a:off x="7995791" y="74245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0.001</a:t>
            </a:r>
            <a:endParaRPr lang="en-US" sz="2025" dirty="0"/>
          </a:p>
        </p:txBody>
      </p:sp>
      <p:sp>
        <p:nvSpPr>
          <p:cNvPr id="79" name="Text 77"/>
          <p:cNvSpPr/>
          <p:nvPr/>
        </p:nvSpPr>
        <p:spPr>
          <a:xfrm>
            <a:off x="10032057" y="74245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0.698</a:t>
            </a:r>
            <a:endParaRPr lang="en-US" sz="2025" dirty="0"/>
          </a:p>
        </p:txBody>
      </p:sp>
      <p:sp>
        <p:nvSpPr>
          <p:cNvPr id="80" name="Text 78"/>
          <p:cNvSpPr/>
          <p:nvPr/>
        </p:nvSpPr>
        <p:spPr>
          <a:xfrm>
            <a:off x="12269242" y="74245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2.69</a:t>
            </a:r>
            <a:endParaRPr lang="en-US" sz="2025" dirty="0"/>
          </a:p>
        </p:txBody>
      </p:sp>
      <p:sp>
        <p:nvSpPr>
          <p:cNvPr id="81" name="Text 79"/>
          <p:cNvSpPr/>
          <p:nvPr/>
        </p:nvSpPr>
        <p:spPr>
          <a:xfrm>
            <a:off x="14104516" y="74245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0.165</a:t>
            </a:r>
            <a:endParaRPr lang="en-US" sz="2025" dirty="0"/>
          </a:p>
        </p:txBody>
      </p:sp>
      <p:sp>
        <p:nvSpPr>
          <p:cNvPr id="82" name="Shape 80"/>
          <p:cNvSpPr/>
          <p:nvPr/>
        </p:nvSpPr>
        <p:spPr>
          <a:xfrm>
            <a:off x="15863590" y="7272189"/>
            <a:ext cx="1433810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15939790" y="74245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84" name="Text 82"/>
          <p:cNvSpPr/>
          <p:nvPr/>
        </p:nvSpPr>
        <p:spPr>
          <a:xfrm>
            <a:off x="1143000" y="8072289"/>
            <a:ext cx="371331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2025" dirty="0"/>
          </a:p>
        </p:txBody>
      </p:sp>
      <p:sp>
        <p:nvSpPr>
          <p:cNvPr id="85" name="Text 83"/>
          <p:cNvSpPr/>
          <p:nvPr/>
        </p:nvSpPr>
        <p:spPr>
          <a:xfrm>
            <a:off x="4967883" y="8072289"/>
            <a:ext cx="128535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0.045</a:t>
            </a:r>
            <a:endParaRPr lang="en-US" sz="2025" dirty="0"/>
          </a:p>
        </p:txBody>
      </p:sp>
      <p:sp>
        <p:nvSpPr>
          <p:cNvPr id="86" name="Text 84"/>
          <p:cNvSpPr/>
          <p:nvPr/>
        </p:nvSpPr>
        <p:spPr>
          <a:xfrm>
            <a:off x="6481837" y="8072289"/>
            <a:ext cx="128535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0.046</a:t>
            </a:r>
            <a:endParaRPr lang="en-US" sz="2025" dirty="0"/>
          </a:p>
        </p:txBody>
      </p:sp>
      <p:sp>
        <p:nvSpPr>
          <p:cNvPr id="87" name="Text 85"/>
          <p:cNvSpPr/>
          <p:nvPr/>
        </p:nvSpPr>
        <p:spPr>
          <a:xfrm>
            <a:off x="7995791" y="8072289"/>
            <a:ext cx="1807666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0.001</a:t>
            </a:r>
            <a:endParaRPr lang="en-US" sz="2025" dirty="0"/>
          </a:p>
        </p:txBody>
      </p:sp>
      <p:sp>
        <p:nvSpPr>
          <p:cNvPr id="88" name="Shape 86"/>
          <p:cNvSpPr/>
          <p:nvPr/>
        </p:nvSpPr>
        <p:spPr>
          <a:xfrm>
            <a:off x="9955857" y="7919889"/>
            <a:ext cx="2237184" cy="642938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0032057" y="8072289"/>
            <a:ext cx="200858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0.753</a:t>
            </a:r>
            <a:endParaRPr lang="en-US" sz="2025" dirty="0"/>
          </a:p>
        </p:txBody>
      </p:sp>
      <p:sp>
        <p:nvSpPr>
          <p:cNvPr id="90" name="Text 88"/>
          <p:cNvSpPr/>
          <p:nvPr/>
        </p:nvSpPr>
        <p:spPr>
          <a:xfrm>
            <a:off x="12269242" y="8072289"/>
            <a:ext cx="160667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3.36</a:t>
            </a:r>
            <a:endParaRPr lang="en-US" sz="2025" dirty="0"/>
          </a:p>
        </p:txBody>
      </p:sp>
      <p:sp>
        <p:nvSpPr>
          <p:cNvPr id="91" name="Text 89"/>
          <p:cNvSpPr/>
          <p:nvPr/>
        </p:nvSpPr>
        <p:spPr>
          <a:xfrm>
            <a:off x="14104516" y="8072289"/>
            <a:ext cx="160667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0.120</a:t>
            </a:r>
            <a:endParaRPr lang="en-US" sz="2025" dirty="0"/>
          </a:p>
        </p:txBody>
      </p:sp>
      <p:sp>
        <p:nvSpPr>
          <p:cNvPr id="92" name="Shape 90"/>
          <p:cNvSpPr/>
          <p:nvPr/>
        </p:nvSpPr>
        <p:spPr>
          <a:xfrm>
            <a:off x="15863590" y="7919889"/>
            <a:ext cx="1433810" cy="642938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15939790" y="8072289"/>
            <a:ext cx="120521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94" name="Text 92"/>
          <p:cNvSpPr/>
          <p:nvPr/>
        </p:nvSpPr>
        <p:spPr>
          <a:xfrm>
            <a:off x="990600" y="9305925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Highlighted </a:t>
            </a:r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best in column · PopBias &amp; fit s: lower is better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12B · COLD-START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 reaches what nothing else can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321820"/>
            <a:ext cx="8084058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2,211 artists with zero training plays, how many can each method recommend?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990600" y="5205264"/>
            <a:ext cx="24098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352800" y="5169545"/>
            <a:ext cx="2473970" cy="38100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981950" y="5205264"/>
            <a:ext cx="9334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1,227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5702945"/>
            <a:ext cx="22669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/ ALS / Social / Pop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3352800" y="5822007"/>
            <a:ext cx="38100" cy="38100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981950" y="5857726"/>
            <a:ext cx="9334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90600" y="6550670"/>
            <a:ext cx="8084058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method has no representation for an unseen artist — it simply isn't in their item space.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448800" y="4278957"/>
            <a:ext cx="7848600" cy="2981325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877425" y="4669482"/>
            <a:ext cx="76904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FLIP SIDE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7425" y="5136207"/>
            <a:ext cx="1357900" cy="933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1283330" y="5598170"/>
            <a:ext cx="524251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users have </a:t>
            </a:r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40 </a:t>
            </a:r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interactions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877425" y="6203007"/>
            <a:ext cx="720109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 cold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</a:t>
            </a:r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exist, so accuracy is flat across user history — an honest finding about the dataset, not the methods.</a:t>
            </a:r>
            <a:endParaRPr lang="en-US" sz="18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· TECHNICAL CHALLENGES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genuinely hard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272251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1447800" y="2660600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sparsity (99.7%)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 negatives — absence ≠ dislike.</a:t>
            </a:r>
            <a:endParaRPr lang="en-US" sz="2325" dirty="0"/>
          </a:p>
        </p:txBody>
      </p:sp>
      <p:sp>
        <p:nvSpPr>
          <p:cNvPr id="6" name="Text 4"/>
          <p:cNvSpPr/>
          <p:nvPr/>
        </p:nvSpPr>
        <p:spPr>
          <a:xfrm>
            <a:off x="9410700" y="272251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867900" y="2660600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the comparison fair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split, one harness, interchangeable models.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90600" y="524217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447800" y="5180261"/>
            <a:ext cx="7652385" cy="1216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Hand-implementing ALS correctly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validated by a closed-form unit test + a synthetic two-cluster sanity check.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410700" y="543706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867900" y="5375151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only means something in tag space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defining a meaningful metric.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990600" y="8151614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447800" y="8089702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Balancing accuracy against bias </a:t>
            </a:r>
            <a:pPr algn="l" indent="0" marL="0">
              <a:lnSpc>
                <a:spcPct val="132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two pull in opposite directions.</a:t>
            </a:r>
            <a:endParaRPr lang="en-US" sz="23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· HONEST LIMITATIONS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fixed, and what remains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644036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7230517" cy="76249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2347689"/>
            <a:ext cx="707345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FIXED, NOT EXCUSED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00175" y="2833464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Averaged over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seeds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one.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400175" y="3314477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 on a validation split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400175" y="3795489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assumed.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400175" y="4276502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Friendship graph turned into a </a:t>
            </a:r>
            <a:pPr algn="l" indent="0" marL="0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method</a:t>
            </a:r>
            <a:pPr algn="l" indent="0" marL="0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8249692" y="1966689"/>
            <a:ext cx="9038109" cy="7624986"/>
          </a:xfrm>
          <a:prstGeom prst="rect">
            <a:avLst/>
          </a:prstGeom>
          <a:solidFill>
            <a:srgbClr val="0F162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49742" y="2347689"/>
            <a:ext cx="90618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88" kern="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GENUINELY REMAINS (MOSTLY INHERENT)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49742" y="2833464"/>
            <a:ext cx="8485149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temporal split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interaction file has no timestamps (dataset constraint).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8649742" y="3595464"/>
            <a:ext cx="8485149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rewards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re-discovering played artists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true discovery — needs an online test.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8649742" y="4357464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validated by unit + synthetic tests,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8649742" y="4805139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is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tag-space only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exposure Gini near-saturated for all methods.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649742" y="5252814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dense data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flatters popularity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leaves almost no cold users.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8649742" y="5700489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described 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this scale only</a:t>
            </a:r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UI is a prototype, not user-tested.</a:t>
            </a:r>
            <a:endParaRPr lang="en-US" sz="187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0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· FINAL REMARKS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650" b="1" spc="-46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system is a portfolio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6729636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001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2858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CF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2858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accuracy + coverage, trivial training.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50768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3625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COLD-START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625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53625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Reaches unseen artists; adds novelty.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91535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4392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4392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94392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Broadens coverage where a graph exists.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32302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35159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5159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Popularity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13515975" y="3190652"/>
            <a:ext cx="38347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Cold-user safety net.</a:t>
            </a:r>
            <a:endParaRPr lang="en-US" sz="1875" dirty="0"/>
          </a:p>
        </p:txBody>
      </p:sp>
      <p:sp>
        <p:nvSpPr>
          <p:cNvPr id="21" name="Text 19"/>
          <p:cNvSpPr/>
          <p:nvPr/>
        </p:nvSpPr>
        <p:spPr>
          <a:xfrm>
            <a:off x="990600" y="8934450"/>
            <a:ext cx="647110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necessary but not sufficient — diversity, novelty, coverage, bias and scalability all matter.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7558980" y="9120188"/>
            <a:ext cx="10712261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hybrid blending · learning-to-rank · </a:t>
            </a:r>
            <a:pPr algn="l" indent="0" marL="0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</a:t>
            </a:r>
            <a:pPr algn="l" indent="0" marL="0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-library cross-check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4D5E">
                  <a:alpha val="13000"/>
                </a:srgbClr>
              </a:gs>
              <a:gs pos="62000">
                <a:srgbClr val="FF4D5E">
                  <a:alpha val="0"/>
                </a:srgbClr>
              </a:gs>
            </a:gsLst>
            <a:path path="circle">
              <a:fillToRect l="72000" t="70000" r="28000" b="30000"/>
            </a:path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90600" y="3549030"/>
            <a:ext cx="194635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468" kern="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90600" y="4301505"/>
            <a:ext cx="7431566" cy="15982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850" b="1" spc="-117" kern="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necessary. </a:t>
            </a:r>
            <a:pPr algn="l" indent="0" marL="0">
              <a:lnSpc>
                <a:spcPct val="105000"/>
              </a:lnSpc>
              <a:buNone/>
            </a:pPr>
            <a:r>
              <a:rPr lang="en-US" sz="5850" b="1" spc="-117" kern="0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sufficient.</a:t>
            </a:r>
            <a:endParaRPr lang="en-US" sz="5850" dirty="0"/>
          </a:p>
        </p:txBody>
      </p:sp>
      <p:sp>
        <p:nvSpPr>
          <p:cNvPr id="5" name="Text 3"/>
          <p:cNvSpPr/>
          <p:nvPr/>
        </p:nvSpPr>
        <p:spPr>
          <a:xfrm>
            <a:off x="990600" y="6318870"/>
            <a:ext cx="62747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 welcome.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2026-06-29T10:54:32Z</dcterms:created>
  <dcterms:modified xsi:type="dcterms:W3CDTF">2026-06-29T10:54:32Z</dcterms:modified>
</cp:coreProperties>
</file>